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p:regular r:id="rId36"/>
      <p:bold r:id="rId37"/>
      <p:italic r:id="rId38"/>
      <p:boldItalic r:id="rId39"/>
    </p:embeddedFont>
    <p:embeddedFont>
      <p:font typeface="Nuni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regular.fntdata"/><Relationship Id="rId20" Type="http://schemas.openxmlformats.org/officeDocument/2006/relationships/slide" Target="slides/slide15.xml"/><Relationship Id="rId42" Type="http://schemas.openxmlformats.org/officeDocument/2006/relationships/font" Target="fonts/Nunito-italic.fntdata"/><Relationship Id="rId41" Type="http://schemas.openxmlformats.org/officeDocument/2006/relationships/font" Target="fonts/Nunito-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Nunit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bold.fntdata"/><Relationship Id="rId14" Type="http://schemas.openxmlformats.org/officeDocument/2006/relationships/slide" Target="slides/slide9.xml"/><Relationship Id="rId36" Type="http://schemas.openxmlformats.org/officeDocument/2006/relationships/font" Target="fonts/Roboto-regular.fntdata"/><Relationship Id="rId17" Type="http://schemas.openxmlformats.org/officeDocument/2006/relationships/slide" Target="slides/slide12.xml"/><Relationship Id="rId39" Type="http://schemas.openxmlformats.org/officeDocument/2006/relationships/font" Target="fonts/Roboto-boldItalic.fntdata"/><Relationship Id="rId16" Type="http://schemas.openxmlformats.org/officeDocument/2006/relationships/slide" Target="slides/slide11.xml"/><Relationship Id="rId38" Type="http://schemas.openxmlformats.org/officeDocument/2006/relationships/font" Target="fonts/Robo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ded8bccd8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ded8bccd8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49d74e710344716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49d74e710344716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b6b6523e53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b6b6523e53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49d74e710344716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49d74e710344716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49d74e710344716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49d74e710344716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49d74e710344716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49d74e710344716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ded8bccd8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ded8bccd8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df120f70a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df120f70a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df120f70af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df120f70af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ded8bccd8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ded8bccd8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ded8bccd8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ded8bccd8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Bảng này thể hiện sự ánh xạ của các khái niệm Cosmic sang Sequence Diagram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ded8bccd85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ded8bccd85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ded8bccd85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ded8bccd85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ded8bccd85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ded8bccd85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df120f70a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df120f70a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df120f70a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df120f70a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df120f70a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df120f70a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ded8bccd8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ded8bccd8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ded8bccd8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ded8bccd8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ded8bccd8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ded8bccd8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ded8bccd85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ded8bccd85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df120f70af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df120f70af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a:solidFill>
                  <a:schemeClr val="dk1"/>
                </a:solidFill>
              </a:rPr>
              <a:t>[16] L. Lavazza, V.D. Bianco, A case study in COSMIC functional size measurement: the rice cooker revisited, in: International Conference on Software Process and Product Measurement (IWSM’09/Mensura’09), Amsterdam, The Netherlands, 2009</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df120f70af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df120f70af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df120f70af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df120f70af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df120f70a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df120f70a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[16] L. Lavazza, V.D. Bianco, A case study in COSMIC functional size measurement: the rice cooker revisited, in: International Conference on Software Process and Product Measurement (IWSM’09/Mensura’09), Amsterdam, The Netherlands, 2009</a:t>
            </a:r>
            <a:endParaRPr/>
          </a:p>
          <a:p>
            <a:pPr indent="0" lvl="0" marL="0" rtl="0" algn="l">
              <a:spcBef>
                <a:spcPts val="0"/>
              </a:spcBef>
              <a:spcAft>
                <a:spcPts val="0"/>
              </a:spcAft>
              <a:buNone/>
            </a:pPr>
            <a:r>
              <a:rPr lang="vi"/>
              <a:t>CFM : Cosmic function point </a:t>
            </a:r>
            <a:endParaRPr/>
          </a:p>
          <a:p>
            <a:pPr indent="0" lvl="0" marL="0" rtl="0" algn="l">
              <a:spcBef>
                <a:spcPts val="0"/>
              </a:spcBef>
              <a:spcAft>
                <a:spcPts val="0"/>
              </a:spcAft>
              <a:buNone/>
            </a:pPr>
            <a:r>
              <a:rPr lang="vi"/>
              <a:t>CMS : </a:t>
            </a:r>
            <a:r>
              <a:rPr lang="vi" sz="1200">
                <a:solidFill>
                  <a:srgbClr val="333333"/>
                </a:solidFill>
                <a:highlight>
                  <a:schemeClr val="lt1"/>
                </a:highlight>
              </a:rPr>
              <a:t>Control Structure Manipulation</a:t>
            </a:r>
            <a:endParaRPr sz="6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ded8bccd8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ded8bccd8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[24] A. Parada, E. Siegert, L.d. Brisolara, Generating Java code from UML Class and Sequence Diagrams, in: Workshop de Sistemas Embarcados, Florianópolis, 2011.</a:t>
            </a:r>
            <a:endParaRPr/>
          </a:p>
          <a:p>
            <a:pPr indent="0" lvl="0" marL="0" rtl="0" algn="l">
              <a:spcBef>
                <a:spcPts val="0"/>
              </a:spcBef>
              <a:spcAft>
                <a:spcPts val="0"/>
              </a:spcAft>
              <a:buNone/>
            </a:pPr>
            <a:r>
              <a:rPr lang="vi"/>
              <a:t>[25] A. Ben-Abda, Modélisation d’un système d’information d’une compagnie aérienne, University of Sfax, Tunisia, 2008.</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ded8bccd85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ded8bccd85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ded8bccd85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ded8bccd85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ded8bccd85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ded8bccd85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sciencedirect.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translate.googleusercontent.com/translate_f#11" TargetMode="External"/><Relationship Id="rId4" Type="http://schemas.openxmlformats.org/officeDocument/2006/relationships/hyperlink" Target="https://translate.googleusercontent.com/translate_f#11" TargetMode="External"/><Relationship Id="rId5" Type="http://schemas.openxmlformats.org/officeDocument/2006/relationships/hyperlink" Target="https://translate.googleusercontent.com/translate_f#11" TargetMode="External"/><Relationship Id="rId6" Type="http://schemas.openxmlformats.org/officeDocument/2006/relationships/hyperlink" Target="https://translate.googleusercontent.com/translate_f#11" TargetMode="External"/><Relationship Id="rId7" Type="http://schemas.openxmlformats.org/officeDocument/2006/relationships/hyperlink" Target="https://translate.googleusercontent.com/translate_f#1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translate.google.com/translate?hl=vi&amp;prev=_t&amp;sl=en&amp;tl=vi&amp;u=http://refhub.elsevier.com/S0950-5849(14)00240-7/h0095"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8.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91350" y="690999"/>
            <a:ext cx="5361300" cy="1083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SzPct val="33904"/>
              <a:buNone/>
            </a:pPr>
            <a:r>
              <a:rPr lang="vi" sz="2920">
                <a:latin typeface="Arial"/>
                <a:ea typeface="Arial"/>
                <a:cs typeface="Arial"/>
                <a:sym typeface="Arial"/>
              </a:rPr>
              <a:t>Các chủ đề nâng cao trong công nghệ phần mềm</a:t>
            </a:r>
            <a:endParaRPr sz="2920">
              <a:latin typeface="Arial"/>
              <a:ea typeface="Arial"/>
              <a:cs typeface="Arial"/>
              <a:sym typeface="Arial"/>
            </a:endParaRPr>
          </a:p>
          <a:p>
            <a:pPr indent="0" lvl="0" marL="0" rtl="0" algn="ctr">
              <a:spcBef>
                <a:spcPts val="0"/>
              </a:spcBef>
              <a:spcAft>
                <a:spcPts val="0"/>
              </a:spcAft>
              <a:buSzPct val="57558"/>
              <a:buNone/>
            </a:pPr>
            <a:r>
              <a:t/>
            </a:r>
            <a:endParaRPr sz="1720">
              <a:latin typeface="Arial"/>
              <a:ea typeface="Arial"/>
              <a:cs typeface="Arial"/>
              <a:sym typeface="Arial"/>
            </a:endParaRPr>
          </a:p>
        </p:txBody>
      </p:sp>
      <p:sp>
        <p:nvSpPr>
          <p:cNvPr id="129" name="Google Shape;129;p13"/>
          <p:cNvSpPr txBox="1"/>
          <p:nvPr>
            <p:ph idx="1" type="subTitle"/>
          </p:nvPr>
        </p:nvSpPr>
        <p:spPr>
          <a:xfrm>
            <a:off x="5279175" y="3613250"/>
            <a:ext cx="3563100" cy="1242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vi">
                <a:latin typeface="Arial"/>
                <a:ea typeface="Arial"/>
                <a:cs typeface="Arial"/>
                <a:sym typeface="Arial"/>
              </a:rPr>
              <a:t>Nhóm:17</a:t>
            </a:r>
            <a:endParaRPr>
              <a:latin typeface="Arial"/>
              <a:ea typeface="Arial"/>
              <a:cs typeface="Arial"/>
              <a:sym typeface="Arial"/>
            </a:endParaRPr>
          </a:p>
          <a:p>
            <a:pPr indent="457200" lvl="0" marL="0" rtl="0" algn="l">
              <a:spcBef>
                <a:spcPts val="0"/>
              </a:spcBef>
              <a:spcAft>
                <a:spcPts val="0"/>
              </a:spcAft>
              <a:buNone/>
            </a:pPr>
            <a:r>
              <a:rPr lang="vi">
                <a:latin typeface="Arial"/>
                <a:ea typeface="Arial"/>
                <a:cs typeface="Arial"/>
                <a:sym typeface="Arial"/>
              </a:rPr>
              <a:t>1612619 - Nguyễn Bá Thắng </a:t>
            </a:r>
            <a:endParaRPr>
              <a:latin typeface="Arial"/>
              <a:ea typeface="Arial"/>
              <a:cs typeface="Arial"/>
              <a:sym typeface="Arial"/>
            </a:endParaRPr>
          </a:p>
          <a:p>
            <a:pPr indent="457200" lvl="0" marL="0" rtl="0" algn="l">
              <a:spcBef>
                <a:spcPts val="0"/>
              </a:spcBef>
              <a:spcAft>
                <a:spcPts val="0"/>
              </a:spcAft>
              <a:buNone/>
            </a:pPr>
            <a:r>
              <a:rPr lang="vi">
                <a:latin typeface="Arial"/>
                <a:ea typeface="Arial"/>
                <a:cs typeface="Arial"/>
                <a:sym typeface="Arial"/>
              </a:rPr>
              <a:t>1612531 - Phạm Lương Quân</a:t>
            </a:r>
            <a:endParaRPr>
              <a:latin typeface="Arial"/>
              <a:ea typeface="Arial"/>
              <a:cs typeface="Arial"/>
              <a:sym typeface="Arial"/>
            </a:endParaRPr>
          </a:p>
          <a:p>
            <a:pPr indent="457200" lvl="0" marL="0" rtl="0" algn="l">
              <a:spcBef>
                <a:spcPts val="0"/>
              </a:spcBef>
              <a:spcAft>
                <a:spcPts val="0"/>
              </a:spcAft>
              <a:buNone/>
            </a:pPr>
            <a:r>
              <a:rPr lang="vi">
                <a:latin typeface="Arial"/>
                <a:ea typeface="Arial"/>
                <a:cs typeface="Arial"/>
                <a:sym typeface="Arial"/>
              </a:rPr>
              <a:t>1612442 - Cà Lê Nhật Nguyên</a:t>
            </a:r>
            <a:endParaRPr>
              <a:latin typeface="Arial"/>
              <a:ea typeface="Arial"/>
              <a:cs typeface="Arial"/>
              <a:sym typeface="Arial"/>
            </a:endParaRPr>
          </a:p>
        </p:txBody>
      </p:sp>
      <p:sp>
        <p:nvSpPr>
          <p:cNvPr id="130" name="Google Shape;130;p13"/>
          <p:cNvSpPr txBox="1"/>
          <p:nvPr/>
        </p:nvSpPr>
        <p:spPr>
          <a:xfrm>
            <a:off x="1424100" y="1975150"/>
            <a:ext cx="6295800" cy="204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vi" sz="1720">
                <a:solidFill>
                  <a:schemeClr val="lt1"/>
                </a:solidFill>
              </a:rPr>
              <a:t>GVHD: Ts Nguyễn Văn Vũ</a:t>
            </a:r>
            <a:endParaRPr sz="1720">
              <a:solidFill>
                <a:schemeClr val="lt1"/>
              </a:solidFill>
            </a:endParaRPr>
          </a:p>
          <a:p>
            <a:pPr indent="0" lvl="0" marL="0" rtl="0" algn="ctr">
              <a:spcBef>
                <a:spcPts val="0"/>
              </a:spcBef>
              <a:spcAft>
                <a:spcPts val="0"/>
              </a:spcAft>
              <a:buNone/>
            </a:pPr>
            <a:r>
              <a:t/>
            </a:r>
            <a:endParaRPr sz="1720">
              <a:solidFill>
                <a:schemeClr val="lt1"/>
              </a:solidFill>
            </a:endParaRPr>
          </a:p>
          <a:p>
            <a:pPr indent="0" lvl="0" marL="0" rtl="0" algn="ctr">
              <a:spcBef>
                <a:spcPts val="0"/>
              </a:spcBef>
              <a:spcAft>
                <a:spcPts val="0"/>
              </a:spcAft>
              <a:buNone/>
            </a:pPr>
            <a:r>
              <a:rPr lang="vi" sz="1720">
                <a:solidFill>
                  <a:schemeClr val="lt1"/>
                </a:solidFill>
              </a:rPr>
              <a:t>Đề tài: Estimation</a:t>
            </a:r>
            <a:endParaRPr sz="1720">
              <a:solidFill>
                <a:schemeClr val="lt1"/>
              </a:solidFill>
            </a:endParaRPr>
          </a:p>
          <a:p>
            <a:pPr indent="0" lvl="0" marL="0" rtl="0" algn="ctr">
              <a:spcBef>
                <a:spcPts val="0"/>
              </a:spcBef>
              <a:spcAft>
                <a:spcPts val="0"/>
              </a:spcAft>
              <a:buNone/>
            </a:pPr>
            <a:r>
              <a:rPr lang="vi" sz="2220">
                <a:solidFill>
                  <a:schemeClr val="lt1"/>
                </a:solidFill>
              </a:rPr>
              <a:t> </a:t>
            </a:r>
            <a:r>
              <a:rPr lang="vi" sz="1500">
                <a:highlight>
                  <a:srgbClr val="FFFFFF"/>
                </a:highlight>
              </a:rPr>
              <a:t>Sellami, Asma, et al. "A measurement method for sizing the structure of UML sequence diagrams." Information and Software Technology 59 (2015): 222-232.</a:t>
            </a:r>
            <a:endParaRPr sz="2220">
              <a:solidFill>
                <a:schemeClr val="lt1"/>
              </a:solidFill>
            </a:endParaRPr>
          </a:p>
          <a:p>
            <a:pPr indent="0" lvl="0" marL="0" rtl="0" algn="ctr">
              <a:spcBef>
                <a:spcPts val="0"/>
              </a:spcBef>
              <a:spcAft>
                <a:spcPts val="0"/>
              </a:spcAft>
              <a:buClr>
                <a:srgbClr val="000000"/>
              </a:buClr>
              <a:buSzPts val="990"/>
              <a:buFont typeface="Arial"/>
              <a:buNone/>
            </a:pPr>
            <a:r>
              <a:t/>
            </a:r>
            <a:endParaRPr sz="172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title"/>
          </p:nvPr>
        </p:nvSpPr>
        <p:spPr>
          <a:xfrm>
            <a:off x="819150" y="503575"/>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Thông tin bài báo</a:t>
            </a:r>
            <a:endParaRPr>
              <a:latin typeface="Arial"/>
              <a:ea typeface="Arial"/>
              <a:cs typeface="Arial"/>
              <a:sym typeface="Arial"/>
            </a:endParaRPr>
          </a:p>
        </p:txBody>
      </p:sp>
      <p:sp>
        <p:nvSpPr>
          <p:cNvPr id="136" name="Google Shape;136;p14"/>
          <p:cNvSpPr txBox="1"/>
          <p:nvPr>
            <p:ph idx="1" type="body"/>
          </p:nvPr>
        </p:nvSpPr>
        <p:spPr>
          <a:xfrm>
            <a:off x="819150" y="1078675"/>
            <a:ext cx="7505700" cy="336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sz="1800">
                <a:latin typeface="Arial"/>
                <a:ea typeface="Arial"/>
                <a:cs typeface="Arial"/>
                <a:sym typeface="Arial"/>
              </a:rPr>
              <a:t>A measurement method for sizing the structure of UML sequence diagrams</a:t>
            </a:r>
            <a:endParaRPr sz="1400">
              <a:latin typeface="Arial"/>
              <a:ea typeface="Arial"/>
              <a:cs typeface="Arial"/>
              <a:sym typeface="Arial"/>
            </a:endParaRPr>
          </a:p>
          <a:p>
            <a:pPr indent="0" lvl="0" marL="0" rtl="0" algn="l">
              <a:spcBef>
                <a:spcPts val="1200"/>
              </a:spcBef>
              <a:spcAft>
                <a:spcPts val="0"/>
              </a:spcAft>
              <a:buNone/>
            </a:pPr>
            <a:r>
              <a:rPr lang="vi" sz="1400">
                <a:latin typeface="Arial"/>
                <a:ea typeface="Arial"/>
                <a:cs typeface="Arial"/>
                <a:sym typeface="Arial"/>
              </a:rPr>
              <a:t>Tác giả: Asma Sellami, Hela Hakim, Alain Abran, Hanêne Ben-Abdallah</a:t>
            </a:r>
            <a:endParaRPr sz="1400">
              <a:latin typeface="Arial"/>
              <a:ea typeface="Arial"/>
              <a:cs typeface="Arial"/>
              <a:sym typeface="Arial"/>
            </a:endParaRPr>
          </a:p>
          <a:p>
            <a:pPr indent="0" lvl="0" marL="0" rtl="0" algn="l">
              <a:spcBef>
                <a:spcPts val="1200"/>
              </a:spcBef>
              <a:spcAft>
                <a:spcPts val="0"/>
              </a:spcAft>
              <a:buNone/>
            </a:pPr>
            <a:r>
              <a:rPr lang="vi" sz="1400">
                <a:latin typeface="Arial"/>
                <a:ea typeface="Arial"/>
                <a:cs typeface="Arial"/>
                <a:sym typeface="Arial"/>
              </a:rPr>
              <a:t>Tiếp nhận ngày 2/5/2014</a:t>
            </a:r>
            <a:br>
              <a:rPr lang="vi" sz="1400">
                <a:latin typeface="Arial"/>
                <a:ea typeface="Arial"/>
                <a:cs typeface="Arial"/>
                <a:sym typeface="Arial"/>
              </a:rPr>
            </a:br>
            <a:r>
              <a:rPr lang="vi" sz="1400">
                <a:latin typeface="Arial"/>
                <a:ea typeface="Arial"/>
                <a:cs typeface="Arial"/>
                <a:sym typeface="Arial"/>
              </a:rPr>
              <a:t>Nhận mẫu sửa đổi ngày 16/10/2014</a:t>
            </a:r>
            <a:br>
              <a:rPr lang="vi" sz="1400">
                <a:latin typeface="Arial"/>
                <a:ea typeface="Arial"/>
                <a:cs typeface="Arial"/>
                <a:sym typeface="Arial"/>
              </a:rPr>
            </a:br>
            <a:r>
              <a:rPr lang="vi" sz="1400">
                <a:latin typeface="Arial"/>
                <a:ea typeface="Arial"/>
                <a:cs typeface="Arial"/>
                <a:sym typeface="Arial"/>
              </a:rPr>
              <a:t>Được chấp thuận ngày 6/11/2014</a:t>
            </a:r>
            <a:br>
              <a:rPr lang="vi" sz="1400">
                <a:latin typeface="Arial"/>
                <a:ea typeface="Arial"/>
                <a:cs typeface="Arial"/>
                <a:sym typeface="Arial"/>
              </a:rPr>
            </a:br>
            <a:r>
              <a:rPr lang="vi" sz="1400">
                <a:latin typeface="Arial"/>
                <a:ea typeface="Arial"/>
                <a:cs typeface="Arial"/>
                <a:sym typeface="Arial"/>
              </a:rPr>
              <a:t>Có hiệu lực trên Internet ngày 27/11/2014 tại </a:t>
            </a:r>
            <a:r>
              <a:rPr lang="vi" sz="1400" u="sng">
                <a:solidFill>
                  <a:schemeClr val="hlink"/>
                </a:solidFill>
                <a:latin typeface="Arial"/>
                <a:ea typeface="Arial"/>
                <a:cs typeface="Arial"/>
                <a:sym typeface="Arial"/>
                <a:hlinkClick r:id="rId3"/>
              </a:rPr>
              <a:t>www.sciencedirect.com</a:t>
            </a:r>
            <a:r>
              <a:rPr lang="vi" sz="1400">
                <a:latin typeface="Arial"/>
                <a:ea typeface="Arial"/>
                <a:cs typeface="Arial"/>
                <a:sym typeface="Arial"/>
              </a:rPr>
              <a:t>, Information and Software Technology</a:t>
            </a:r>
            <a:endParaRPr sz="1400">
              <a:latin typeface="Arial"/>
              <a:ea typeface="Arial"/>
              <a:cs typeface="Arial"/>
              <a:sym typeface="Arial"/>
            </a:endParaRPr>
          </a:p>
          <a:p>
            <a:pPr indent="0" lvl="0" marL="0" rtl="0" algn="l">
              <a:spcBef>
                <a:spcPts val="1200"/>
              </a:spcBef>
              <a:spcAft>
                <a:spcPts val="1200"/>
              </a:spcAft>
              <a:buNone/>
            </a:pPr>
            <a:r>
              <a:t/>
            </a:r>
            <a:endParaRPr sz="14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485325" y="3959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latin typeface="Arial"/>
                <a:ea typeface="Arial"/>
                <a:cs typeface="Arial"/>
                <a:sym typeface="Arial"/>
              </a:rPr>
              <a:t>Ngôn ngữ mô hình UML?</a:t>
            </a:r>
            <a:endParaRPr>
              <a:latin typeface="Arial"/>
              <a:ea typeface="Arial"/>
              <a:cs typeface="Arial"/>
              <a:sym typeface="Arial"/>
            </a:endParaRPr>
          </a:p>
        </p:txBody>
      </p:sp>
      <p:sp>
        <p:nvSpPr>
          <p:cNvPr id="142" name="Google Shape;142;p15"/>
          <p:cNvSpPr txBox="1"/>
          <p:nvPr>
            <p:ph idx="1" type="body"/>
          </p:nvPr>
        </p:nvSpPr>
        <p:spPr>
          <a:xfrm>
            <a:off x="533025" y="12345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sz="1800">
                <a:solidFill>
                  <a:srgbClr val="333333"/>
                </a:solidFill>
                <a:highlight>
                  <a:srgbClr val="FFFFFF"/>
                </a:highlight>
                <a:latin typeface="Arial"/>
                <a:ea typeface="Arial"/>
                <a:cs typeface="Arial"/>
                <a:sym typeface="Arial"/>
              </a:rPr>
              <a:t>(</a:t>
            </a:r>
            <a:r>
              <a:rPr i="1" lang="vi" sz="1800">
                <a:solidFill>
                  <a:srgbClr val="333333"/>
                </a:solidFill>
                <a:highlight>
                  <a:srgbClr val="FFFFFF"/>
                </a:highlight>
                <a:latin typeface="Arial"/>
                <a:ea typeface="Arial"/>
                <a:cs typeface="Arial"/>
                <a:sym typeface="Arial"/>
              </a:rPr>
              <a:t>Unified Modeling Language</a:t>
            </a:r>
            <a:r>
              <a:rPr lang="vi" sz="1800">
                <a:solidFill>
                  <a:srgbClr val="333333"/>
                </a:solidFill>
                <a:highlight>
                  <a:srgbClr val="FFFFFF"/>
                </a:highlight>
                <a:latin typeface="Arial"/>
                <a:ea typeface="Arial"/>
                <a:cs typeface="Arial"/>
                <a:sym typeface="Arial"/>
              </a:rPr>
              <a:t>) là một ngôn ngữ mô hình gồm các ký hiệu đồ họa mà các phương pháp hướng đối tượng sử dụng để thiết kế các hệ thống thông tin một cách nhanh chóng.</a:t>
            </a:r>
            <a:endParaRPr sz="1800">
              <a:solidFill>
                <a:srgbClr val="333333"/>
              </a:solidFill>
              <a:highlight>
                <a:srgbClr val="FFFFFF"/>
              </a:highlight>
              <a:latin typeface="Arial"/>
              <a:ea typeface="Arial"/>
              <a:cs typeface="Arial"/>
              <a:sym typeface="Arial"/>
            </a:endParaRPr>
          </a:p>
          <a:p>
            <a:pPr indent="-342900" lvl="0" marL="457200" rtl="0" algn="l">
              <a:spcBef>
                <a:spcPts val="1200"/>
              </a:spcBef>
              <a:spcAft>
                <a:spcPts val="0"/>
              </a:spcAft>
              <a:buClr>
                <a:srgbClr val="333333"/>
              </a:buClr>
              <a:buSzPts val="1800"/>
              <a:buFont typeface="Arial"/>
              <a:buChar char="●"/>
            </a:pPr>
            <a:r>
              <a:rPr lang="vi" sz="1800">
                <a:solidFill>
                  <a:srgbClr val="333333"/>
                </a:solidFill>
                <a:highlight>
                  <a:srgbClr val="FFFFFF"/>
                </a:highlight>
                <a:latin typeface="Arial"/>
                <a:ea typeface="Arial"/>
                <a:cs typeface="Arial"/>
                <a:sym typeface="Arial"/>
              </a:rPr>
              <a:t>Sơ đồ lớp (Class Diagram)</a:t>
            </a:r>
            <a:endParaRPr sz="1800">
              <a:solidFill>
                <a:srgbClr val="333333"/>
              </a:solidFill>
              <a:highlight>
                <a:srgbClr val="FFFFFF"/>
              </a:highlight>
              <a:latin typeface="Arial"/>
              <a:ea typeface="Arial"/>
              <a:cs typeface="Arial"/>
              <a:sym typeface="Arial"/>
            </a:endParaRPr>
          </a:p>
          <a:p>
            <a:pPr indent="-342900" lvl="0" marL="457200" rtl="0" algn="l">
              <a:spcBef>
                <a:spcPts val="0"/>
              </a:spcBef>
              <a:spcAft>
                <a:spcPts val="0"/>
              </a:spcAft>
              <a:buClr>
                <a:srgbClr val="333333"/>
              </a:buClr>
              <a:buSzPts val="1800"/>
              <a:buFont typeface="Arial"/>
              <a:buChar char="●"/>
            </a:pPr>
            <a:r>
              <a:rPr lang="vi" sz="1800">
                <a:solidFill>
                  <a:srgbClr val="333333"/>
                </a:solidFill>
                <a:highlight>
                  <a:srgbClr val="FFFFFF"/>
                </a:highlight>
                <a:latin typeface="Arial"/>
                <a:ea typeface="Arial"/>
                <a:cs typeface="Arial"/>
                <a:sym typeface="Arial"/>
              </a:rPr>
              <a:t>Sơ đồ đối tượng (Object Diagram)</a:t>
            </a:r>
            <a:endParaRPr sz="1800">
              <a:solidFill>
                <a:srgbClr val="333333"/>
              </a:solidFill>
              <a:highlight>
                <a:srgbClr val="FFFFFF"/>
              </a:highlight>
              <a:latin typeface="Arial"/>
              <a:ea typeface="Arial"/>
              <a:cs typeface="Arial"/>
              <a:sym typeface="Arial"/>
            </a:endParaRPr>
          </a:p>
          <a:p>
            <a:pPr indent="-342900" lvl="0" marL="457200" rtl="0" algn="l">
              <a:spcBef>
                <a:spcPts val="0"/>
              </a:spcBef>
              <a:spcAft>
                <a:spcPts val="0"/>
              </a:spcAft>
              <a:buClr>
                <a:srgbClr val="333333"/>
              </a:buClr>
              <a:buSzPts val="1800"/>
              <a:buFont typeface="Arial"/>
              <a:buChar char="●"/>
            </a:pPr>
            <a:r>
              <a:rPr lang="vi" sz="1800">
                <a:solidFill>
                  <a:srgbClr val="333333"/>
                </a:solidFill>
                <a:highlight>
                  <a:srgbClr val="FFFFFF"/>
                </a:highlight>
                <a:latin typeface="Arial"/>
                <a:ea typeface="Arial"/>
                <a:cs typeface="Arial"/>
                <a:sym typeface="Arial"/>
              </a:rPr>
              <a:t>Sơ đồ tình huống sử dụng (Use Cases Diagram)</a:t>
            </a:r>
            <a:endParaRPr sz="1800">
              <a:solidFill>
                <a:srgbClr val="333333"/>
              </a:solidFill>
              <a:highlight>
                <a:srgbClr val="FFFFFF"/>
              </a:highlight>
              <a:latin typeface="Arial"/>
              <a:ea typeface="Arial"/>
              <a:cs typeface="Arial"/>
              <a:sym typeface="Arial"/>
            </a:endParaRPr>
          </a:p>
          <a:p>
            <a:pPr indent="-342900" lvl="0" marL="457200" rtl="0" algn="l">
              <a:spcBef>
                <a:spcPts val="0"/>
              </a:spcBef>
              <a:spcAft>
                <a:spcPts val="0"/>
              </a:spcAft>
              <a:buClr>
                <a:srgbClr val="333333"/>
              </a:buClr>
              <a:buSzPts val="1800"/>
              <a:buFont typeface="Arial"/>
              <a:buChar char="●"/>
            </a:pPr>
            <a:r>
              <a:rPr lang="vi" sz="1800">
                <a:solidFill>
                  <a:srgbClr val="333333"/>
                </a:solidFill>
                <a:highlight>
                  <a:srgbClr val="FFFFFF"/>
                </a:highlight>
                <a:latin typeface="Arial"/>
                <a:ea typeface="Arial"/>
                <a:cs typeface="Arial"/>
                <a:sym typeface="Arial"/>
              </a:rPr>
              <a:t>Sơ đồ trình tự (Sequence Diagram)</a:t>
            </a:r>
            <a:endParaRPr sz="1800">
              <a:solidFill>
                <a:srgbClr val="333333"/>
              </a:solidFill>
              <a:highlight>
                <a:srgbClr val="FFFFFF"/>
              </a:highlight>
              <a:latin typeface="Arial"/>
              <a:ea typeface="Arial"/>
              <a:cs typeface="Arial"/>
              <a:sym typeface="Arial"/>
            </a:endParaRPr>
          </a:p>
          <a:p>
            <a:pPr indent="0" lvl="0" marL="0" rtl="0" algn="l">
              <a:spcBef>
                <a:spcPts val="800"/>
              </a:spcBef>
              <a:spcAft>
                <a:spcPts val="1200"/>
              </a:spcAft>
              <a:buNone/>
            </a:pPr>
            <a:r>
              <a:t/>
            </a:r>
            <a:endParaRPr sz="1800">
              <a:solidFill>
                <a:srgbClr val="333333"/>
              </a:solidFill>
              <a:highlight>
                <a:srgbClr val="FFFFFF"/>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6"/>
          <p:cNvSpPr txBox="1"/>
          <p:nvPr>
            <p:ph type="title"/>
          </p:nvPr>
        </p:nvSpPr>
        <p:spPr>
          <a:xfrm>
            <a:off x="159750" y="1306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  </a:t>
            </a:r>
            <a:r>
              <a:rPr lang="vi">
                <a:latin typeface="Arial"/>
                <a:ea typeface="Arial"/>
                <a:cs typeface="Arial"/>
                <a:sym typeface="Arial"/>
              </a:rPr>
              <a:t>Tóm tắt</a:t>
            </a:r>
            <a:endParaRPr>
              <a:latin typeface="Arial"/>
              <a:ea typeface="Arial"/>
              <a:cs typeface="Arial"/>
              <a:sym typeface="Arial"/>
            </a:endParaRPr>
          </a:p>
        </p:txBody>
      </p:sp>
      <p:sp>
        <p:nvSpPr>
          <p:cNvPr id="148" name="Google Shape;148;p16"/>
          <p:cNvSpPr txBox="1"/>
          <p:nvPr>
            <p:ph idx="1" type="body"/>
          </p:nvPr>
        </p:nvSpPr>
        <p:spPr>
          <a:xfrm>
            <a:off x="288400" y="656275"/>
            <a:ext cx="8433600" cy="41301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rgbClr val="333333"/>
              </a:buClr>
              <a:buSzPts val="1700"/>
              <a:buFont typeface="Arial"/>
              <a:buChar char="-"/>
            </a:pPr>
            <a:r>
              <a:rPr lang="vi" sz="1700">
                <a:solidFill>
                  <a:srgbClr val="333333"/>
                </a:solidFill>
                <a:highlight>
                  <a:schemeClr val="dk1"/>
                </a:highlight>
                <a:latin typeface="Arial"/>
                <a:ea typeface="Arial"/>
                <a:cs typeface="Arial"/>
                <a:sym typeface="Arial"/>
              </a:rPr>
              <a:t>Bối cảnh: </a:t>
            </a:r>
            <a:endParaRPr sz="1700">
              <a:solidFill>
                <a:srgbClr val="333333"/>
              </a:solidFill>
              <a:highlight>
                <a:schemeClr val="dk1"/>
              </a:highlight>
              <a:latin typeface="Arial"/>
              <a:ea typeface="Arial"/>
              <a:cs typeface="Arial"/>
              <a:sym typeface="Arial"/>
            </a:endParaRPr>
          </a:p>
          <a:p>
            <a:pPr indent="-336550" lvl="0" marL="457200" rtl="0" algn="l">
              <a:lnSpc>
                <a:spcPct val="100000"/>
              </a:lnSpc>
              <a:spcBef>
                <a:spcPts val="0"/>
              </a:spcBef>
              <a:spcAft>
                <a:spcPts val="0"/>
              </a:spcAft>
              <a:buClr>
                <a:srgbClr val="333333"/>
              </a:buClr>
              <a:buSzPts val="1700"/>
              <a:buFont typeface="Arial"/>
              <a:buChar char="-"/>
            </a:pPr>
            <a:r>
              <a:rPr lang="vi" sz="1700">
                <a:solidFill>
                  <a:srgbClr val="333333"/>
                </a:solidFill>
                <a:highlight>
                  <a:schemeClr val="dk1"/>
                </a:highlight>
                <a:latin typeface="Arial"/>
                <a:ea typeface="Arial"/>
                <a:cs typeface="Arial"/>
                <a:sym typeface="Arial"/>
              </a:rPr>
              <a:t>Mục tiêu: </a:t>
            </a:r>
            <a:endParaRPr sz="1700">
              <a:solidFill>
                <a:srgbClr val="333333"/>
              </a:solidFill>
              <a:highlight>
                <a:schemeClr val="dk1"/>
              </a:highlight>
              <a:latin typeface="Arial"/>
              <a:ea typeface="Arial"/>
              <a:cs typeface="Arial"/>
              <a:sym typeface="Arial"/>
            </a:endParaRPr>
          </a:p>
          <a:p>
            <a:pPr indent="-336550" lvl="0" marL="457200" rtl="0" algn="l">
              <a:lnSpc>
                <a:spcPct val="100000"/>
              </a:lnSpc>
              <a:spcBef>
                <a:spcPts val="0"/>
              </a:spcBef>
              <a:spcAft>
                <a:spcPts val="0"/>
              </a:spcAft>
              <a:buClr>
                <a:srgbClr val="333333"/>
              </a:buClr>
              <a:buSzPts val="1700"/>
              <a:buFont typeface="Arial"/>
              <a:buChar char="-"/>
            </a:pPr>
            <a:r>
              <a:rPr lang="vi" sz="1700">
                <a:solidFill>
                  <a:srgbClr val="333333"/>
                </a:solidFill>
                <a:highlight>
                  <a:schemeClr val="dk1"/>
                </a:highlight>
                <a:latin typeface="Arial"/>
                <a:ea typeface="Arial"/>
                <a:cs typeface="Arial"/>
                <a:sym typeface="Arial"/>
              </a:rPr>
              <a:t>Phương pháp: </a:t>
            </a:r>
            <a:endParaRPr sz="1700">
              <a:solidFill>
                <a:srgbClr val="333333"/>
              </a:solidFill>
              <a:highlight>
                <a:schemeClr val="dk1"/>
              </a:highlight>
              <a:latin typeface="Arial"/>
              <a:ea typeface="Arial"/>
              <a:cs typeface="Arial"/>
              <a:sym typeface="Arial"/>
            </a:endParaRPr>
          </a:p>
          <a:p>
            <a:pPr indent="-336550" lvl="0" marL="457200" rtl="0" algn="l">
              <a:lnSpc>
                <a:spcPct val="100000"/>
              </a:lnSpc>
              <a:spcBef>
                <a:spcPts val="0"/>
              </a:spcBef>
              <a:spcAft>
                <a:spcPts val="0"/>
              </a:spcAft>
              <a:buClr>
                <a:srgbClr val="333333"/>
              </a:buClr>
              <a:buSzPts val="1700"/>
              <a:buFont typeface="Arial"/>
              <a:buChar char="-"/>
            </a:pPr>
            <a:r>
              <a:rPr lang="vi" sz="1700">
                <a:solidFill>
                  <a:srgbClr val="333333"/>
                </a:solidFill>
                <a:highlight>
                  <a:schemeClr val="dk1"/>
                </a:highlight>
                <a:latin typeface="Arial"/>
                <a:ea typeface="Arial"/>
                <a:cs typeface="Arial"/>
                <a:sym typeface="Arial"/>
              </a:rPr>
              <a:t>Các kết quả: </a:t>
            </a:r>
            <a:endParaRPr sz="1700">
              <a:solidFill>
                <a:srgbClr val="333333"/>
              </a:solidFill>
              <a:highlight>
                <a:schemeClr val="dk1"/>
              </a:highlight>
              <a:latin typeface="Arial"/>
              <a:ea typeface="Arial"/>
              <a:cs typeface="Arial"/>
              <a:sym typeface="Arial"/>
            </a:endParaRPr>
          </a:p>
          <a:p>
            <a:pPr indent="-336550" lvl="0" marL="457200" rtl="0" algn="l">
              <a:lnSpc>
                <a:spcPct val="100000"/>
              </a:lnSpc>
              <a:spcBef>
                <a:spcPts val="0"/>
              </a:spcBef>
              <a:spcAft>
                <a:spcPts val="0"/>
              </a:spcAft>
              <a:buClr>
                <a:srgbClr val="333333"/>
              </a:buClr>
              <a:buSzPts val="1700"/>
              <a:buFont typeface="Arial"/>
              <a:buChar char="-"/>
            </a:pPr>
            <a:r>
              <a:rPr lang="vi" sz="1700">
                <a:solidFill>
                  <a:srgbClr val="333333"/>
                </a:solidFill>
                <a:highlight>
                  <a:schemeClr val="dk1"/>
                </a:highlight>
                <a:latin typeface="Arial"/>
                <a:ea typeface="Arial"/>
                <a:cs typeface="Arial"/>
                <a:sym typeface="Arial"/>
              </a:rPr>
              <a:t>Kết luận: </a:t>
            </a:r>
            <a:endParaRPr sz="1700">
              <a:solidFill>
                <a:srgbClr val="333333"/>
              </a:solidFill>
              <a:highlight>
                <a:schemeClr val="dk1"/>
              </a:highlight>
              <a:latin typeface="Arial"/>
              <a:ea typeface="Arial"/>
              <a:cs typeface="Arial"/>
              <a:sym typeface="Arial"/>
            </a:endParaRPr>
          </a:p>
          <a:p>
            <a:pPr indent="0" lvl="0" marL="457200" rtl="0" algn="l">
              <a:lnSpc>
                <a:spcPct val="100000"/>
              </a:lnSpc>
              <a:spcBef>
                <a:spcPts val="1200"/>
              </a:spcBef>
              <a:spcAft>
                <a:spcPts val="0"/>
              </a:spcAft>
              <a:buNone/>
            </a:pPr>
            <a:r>
              <a:rPr lang="vi" sz="1700">
                <a:solidFill>
                  <a:srgbClr val="333333"/>
                </a:solidFill>
                <a:highlight>
                  <a:schemeClr val="dk1"/>
                </a:highlight>
                <a:latin typeface="Arial"/>
                <a:ea typeface="Arial"/>
                <a:cs typeface="Arial"/>
                <a:sym typeface="Arial"/>
              </a:rPr>
              <a:t>=&gt; Cấp độ trừu tượng: </a:t>
            </a:r>
            <a:endParaRPr sz="1700">
              <a:solidFill>
                <a:srgbClr val="333333"/>
              </a:solidFill>
              <a:highlight>
                <a:schemeClr val="dk1"/>
              </a:highlight>
              <a:latin typeface="Arial"/>
              <a:ea typeface="Arial"/>
              <a:cs typeface="Arial"/>
              <a:sym typeface="Arial"/>
            </a:endParaRPr>
          </a:p>
          <a:p>
            <a:pPr indent="0" lvl="0" marL="457200" rtl="0" algn="l">
              <a:lnSpc>
                <a:spcPct val="100000"/>
              </a:lnSpc>
              <a:spcBef>
                <a:spcPts val="1200"/>
              </a:spcBef>
              <a:spcAft>
                <a:spcPts val="0"/>
              </a:spcAft>
              <a:buNone/>
            </a:pPr>
            <a:r>
              <a:rPr lang="vi" sz="1700">
                <a:solidFill>
                  <a:srgbClr val="333333"/>
                </a:solidFill>
                <a:highlight>
                  <a:schemeClr val="dk1"/>
                </a:highlight>
                <a:latin typeface="Arial"/>
                <a:ea typeface="Arial"/>
                <a:cs typeface="Arial"/>
                <a:sym typeface="Arial"/>
              </a:rPr>
              <a:t>=&gt; Cấp độ chi tiết: </a:t>
            </a:r>
            <a:endParaRPr sz="1700">
              <a:solidFill>
                <a:srgbClr val="333333"/>
              </a:solidFill>
              <a:highlight>
                <a:schemeClr val="dk1"/>
              </a:highlight>
              <a:latin typeface="Arial"/>
              <a:ea typeface="Arial"/>
              <a:cs typeface="Arial"/>
              <a:sym typeface="Arial"/>
            </a:endParaRPr>
          </a:p>
          <a:p>
            <a:pPr indent="0" lvl="0" marL="457200" rtl="0" algn="l">
              <a:lnSpc>
                <a:spcPct val="100000"/>
              </a:lnSpc>
              <a:spcBef>
                <a:spcPts val="1200"/>
              </a:spcBef>
              <a:spcAft>
                <a:spcPts val="0"/>
              </a:spcAft>
              <a:buNone/>
            </a:pPr>
            <a:r>
              <a:t/>
            </a:r>
            <a:endParaRPr sz="1800">
              <a:solidFill>
                <a:srgbClr val="333333"/>
              </a:solidFill>
              <a:highlight>
                <a:schemeClr val="dk1"/>
              </a:highlight>
              <a:latin typeface="Times New Roman"/>
              <a:ea typeface="Times New Roman"/>
              <a:cs typeface="Times New Roman"/>
              <a:sym typeface="Times New Roman"/>
            </a:endParaRPr>
          </a:p>
          <a:p>
            <a:pPr indent="0" lvl="0" marL="457200" rtl="0" algn="l">
              <a:lnSpc>
                <a:spcPct val="100000"/>
              </a:lnSpc>
              <a:spcBef>
                <a:spcPts val="1200"/>
              </a:spcBef>
              <a:spcAft>
                <a:spcPts val="1200"/>
              </a:spcAft>
              <a:buNone/>
            </a:pPr>
            <a:r>
              <a:t/>
            </a:r>
            <a:endParaRPr sz="1800">
              <a:solidFill>
                <a:srgbClr val="333333"/>
              </a:solidFill>
              <a:highlight>
                <a:schemeClr val="dk1"/>
              </a:highlight>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7"/>
          <p:cNvSpPr txBox="1"/>
          <p:nvPr>
            <p:ph type="title"/>
          </p:nvPr>
        </p:nvSpPr>
        <p:spPr>
          <a:xfrm>
            <a:off x="540850" y="3959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latin typeface="Arial"/>
                <a:ea typeface="Arial"/>
                <a:cs typeface="Arial"/>
                <a:sym typeface="Arial"/>
              </a:rPr>
              <a:t>Tổng quan</a:t>
            </a:r>
            <a:endParaRPr>
              <a:latin typeface="Arial"/>
              <a:ea typeface="Arial"/>
              <a:cs typeface="Arial"/>
              <a:sym typeface="Arial"/>
            </a:endParaRPr>
          </a:p>
        </p:txBody>
      </p:sp>
      <p:sp>
        <p:nvSpPr>
          <p:cNvPr id="154" name="Google Shape;154;p17"/>
          <p:cNvSpPr txBox="1"/>
          <p:nvPr>
            <p:ph idx="1" type="body"/>
          </p:nvPr>
        </p:nvSpPr>
        <p:spPr>
          <a:xfrm>
            <a:off x="573850" y="1183100"/>
            <a:ext cx="7505700" cy="272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333333"/>
              </a:buClr>
              <a:buSzPts val="1800"/>
              <a:buFont typeface="Arial"/>
              <a:buChar char="●"/>
            </a:pPr>
            <a:r>
              <a:rPr lang="vi" sz="1800">
                <a:solidFill>
                  <a:srgbClr val="333333"/>
                </a:solidFill>
                <a:highlight>
                  <a:srgbClr val="FFFFFF"/>
                </a:highlight>
                <a:latin typeface="Arial"/>
                <a:ea typeface="Arial"/>
                <a:cs typeface="Arial"/>
                <a:sym typeface="Arial"/>
              </a:rPr>
              <a:t>Tầm quan trọng của việc ước tính thực tế các thuộc tính của dự án phần mềm trong việc quản lý hiệu quả của dự án( chi phí,nguồn lực, nỗ lực)</a:t>
            </a:r>
            <a:endParaRPr sz="1800">
              <a:solidFill>
                <a:srgbClr val="333333"/>
              </a:solidFill>
              <a:highlight>
                <a:srgbClr val="FFFFFF"/>
              </a:highlight>
              <a:latin typeface="Arial"/>
              <a:ea typeface="Arial"/>
              <a:cs typeface="Arial"/>
              <a:sym typeface="Arial"/>
            </a:endParaRPr>
          </a:p>
          <a:p>
            <a:pPr indent="-342900" lvl="0" marL="457200" rtl="0" algn="l">
              <a:spcBef>
                <a:spcPts val="0"/>
              </a:spcBef>
              <a:spcAft>
                <a:spcPts val="0"/>
              </a:spcAft>
              <a:buClr>
                <a:srgbClr val="333333"/>
              </a:buClr>
              <a:buSzPts val="1800"/>
              <a:buFont typeface="Arial"/>
              <a:buChar char="●"/>
            </a:pPr>
            <a:r>
              <a:rPr lang="vi" sz="1800">
                <a:solidFill>
                  <a:srgbClr val="333333"/>
                </a:solidFill>
                <a:highlight>
                  <a:srgbClr val="FFFFFF"/>
                </a:highlight>
                <a:latin typeface="Arial"/>
                <a:ea typeface="Arial"/>
                <a:cs typeface="Arial"/>
                <a:sym typeface="Arial"/>
              </a:rPr>
              <a:t>Tầm quan trọng của việc dự đoán nỗ lực khi bắt đầu dự án phần mềm(giai đoạn phân tích và thiết kế)</a:t>
            </a:r>
            <a:endParaRPr sz="1800">
              <a:solidFill>
                <a:srgbClr val="333333"/>
              </a:solidFill>
              <a:highlight>
                <a:srgbClr val="FFFFFF"/>
              </a:highlight>
              <a:latin typeface="Arial"/>
              <a:ea typeface="Arial"/>
              <a:cs typeface="Arial"/>
              <a:sym typeface="Arial"/>
            </a:endParaRPr>
          </a:p>
          <a:p>
            <a:pPr indent="0" lvl="0" marL="457200" rtl="0" algn="l">
              <a:spcBef>
                <a:spcPts val="800"/>
              </a:spcBef>
              <a:spcAft>
                <a:spcPts val="800"/>
              </a:spcAft>
              <a:buNone/>
            </a:pPr>
            <a:r>
              <a:rPr lang="vi" sz="1800">
                <a:solidFill>
                  <a:srgbClr val="333333"/>
                </a:solidFill>
                <a:highlight>
                  <a:srgbClr val="FFFFFF"/>
                </a:highlight>
                <a:latin typeface="Arial"/>
                <a:ea typeface="Arial"/>
                <a:cs typeface="Arial"/>
                <a:sym typeface="Arial"/>
              </a:rPr>
              <a:t>=&gt; Hỗ trợ lập kế hoạch đầy đủ và chi tiết cho các hoạt động sắp tới(xây dựng, thử nghiệm, triển khai)</a:t>
            </a:r>
            <a:endParaRPr sz="1800">
              <a:solidFill>
                <a:srgbClr val="333333"/>
              </a:solidFill>
              <a:highlight>
                <a:srgbClr val="FFFFFF"/>
              </a:highlight>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498950" y="436850"/>
            <a:ext cx="7505700" cy="73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latin typeface="Arial"/>
                <a:ea typeface="Arial"/>
                <a:cs typeface="Arial"/>
                <a:sym typeface="Arial"/>
              </a:rPr>
              <a:t>Phương pháp phổ biến </a:t>
            </a:r>
            <a:endParaRPr>
              <a:latin typeface="Arial"/>
              <a:ea typeface="Arial"/>
              <a:cs typeface="Arial"/>
              <a:sym typeface="Arial"/>
            </a:endParaRPr>
          </a:p>
        </p:txBody>
      </p:sp>
      <p:sp>
        <p:nvSpPr>
          <p:cNvPr id="160" name="Google Shape;160;p18"/>
          <p:cNvSpPr txBox="1"/>
          <p:nvPr>
            <p:ph idx="1" type="body"/>
          </p:nvPr>
        </p:nvSpPr>
        <p:spPr>
          <a:xfrm>
            <a:off x="649075" y="1235525"/>
            <a:ext cx="7505700" cy="27249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Clr>
                <a:srgbClr val="000000"/>
              </a:buClr>
              <a:buSzPct val="100000"/>
              <a:buFont typeface="Arial"/>
              <a:buChar char="❖"/>
            </a:pPr>
            <a:r>
              <a:rPr lang="vi" sz="1800">
                <a:solidFill>
                  <a:srgbClr val="000000"/>
                </a:solidFill>
                <a:highlight>
                  <a:schemeClr val="dk1"/>
                </a:highlight>
                <a:latin typeface="Arial"/>
                <a:ea typeface="Arial"/>
                <a:cs typeface="Arial"/>
                <a:sym typeface="Arial"/>
              </a:rPr>
              <a:t>SLOG</a:t>
            </a:r>
            <a:endParaRPr sz="1800">
              <a:solidFill>
                <a:srgbClr val="000000"/>
              </a:solidFill>
              <a:highlight>
                <a:schemeClr val="dk1"/>
              </a:highlight>
              <a:latin typeface="Arial"/>
              <a:ea typeface="Arial"/>
              <a:cs typeface="Arial"/>
              <a:sym typeface="Arial"/>
            </a:endParaRPr>
          </a:p>
          <a:p>
            <a:pPr indent="-325755" lvl="0" marL="457200" rtl="0" algn="l">
              <a:lnSpc>
                <a:spcPct val="150000"/>
              </a:lnSpc>
              <a:spcBef>
                <a:spcPts val="0"/>
              </a:spcBef>
              <a:spcAft>
                <a:spcPts val="0"/>
              </a:spcAft>
              <a:buClr>
                <a:srgbClr val="000000"/>
              </a:buClr>
              <a:buSzPct val="100000"/>
              <a:buFont typeface="Arial"/>
              <a:buChar char="❖"/>
            </a:pPr>
            <a:r>
              <a:rPr lang="vi" sz="1800">
                <a:solidFill>
                  <a:srgbClr val="000000"/>
                </a:solidFill>
                <a:highlight>
                  <a:schemeClr val="dk1"/>
                </a:highlight>
                <a:latin typeface="Arial"/>
                <a:ea typeface="Arial"/>
                <a:cs typeface="Arial"/>
                <a:sym typeface="Arial"/>
              </a:rPr>
              <a:t>Function Size Measurement</a:t>
            </a:r>
            <a:endParaRPr sz="1800">
              <a:solidFill>
                <a:srgbClr val="000000"/>
              </a:solidFill>
              <a:highlight>
                <a:schemeClr val="dk1"/>
              </a:highlight>
              <a:latin typeface="Arial"/>
              <a:ea typeface="Arial"/>
              <a:cs typeface="Arial"/>
              <a:sym typeface="Arial"/>
            </a:endParaRPr>
          </a:p>
          <a:p>
            <a:pPr indent="-325755" lvl="1" marL="914400" rtl="0" algn="l">
              <a:lnSpc>
                <a:spcPct val="150000"/>
              </a:lnSpc>
              <a:spcBef>
                <a:spcPts val="0"/>
              </a:spcBef>
              <a:spcAft>
                <a:spcPts val="0"/>
              </a:spcAft>
              <a:buSzPct val="100000"/>
              <a:buFont typeface="Arial"/>
              <a:buChar char="➢"/>
            </a:pPr>
            <a:r>
              <a:rPr lang="vi" sz="1800">
                <a:solidFill>
                  <a:srgbClr val="000000"/>
                </a:solidFill>
                <a:highlight>
                  <a:schemeClr val="dk1"/>
                </a:highlight>
                <a:latin typeface="Arial"/>
                <a:ea typeface="Arial"/>
                <a:cs typeface="Arial"/>
                <a:sym typeface="Arial"/>
              </a:rPr>
              <a:t>COSMIC (ISO 19761 </a:t>
            </a:r>
            <a:r>
              <a:rPr lang="vi" sz="1800" u="sng">
                <a:solidFill>
                  <a:schemeClr val="hlink"/>
                </a:solidFill>
                <a:highlight>
                  <a:schemeClr val="dk1"/>
                </a:highlight>
                <a:latin typeface="Arial"/>
                <a:ea typeface="Arial"/>
                <a:cs typeface="Arial"/>
                <a:sym typeface="Arial"/>
                <a:hlinkClick r:id="rId3"/>
              </a:rPr>
              <a:t>[4]</a:t>
            </a:r>
            <a:r>
              <a:rPr lang="vi" sz="1800">
                <a:solidFill>
                  <a:srgbClr val="000000"/>
                </a:solidFill>
                <a:highlight>
                  <a:schemeClr val="dk1"/>
                </a:highlight>
                <a:latin typeface="Arial"/>
                <a:ea typeface="Arial"/>
                <a:cs typeface="Arial"/>
                <a:sym typeface="Arial"/>
              </a:rPr>
              <a:t>),</a:t>
            </a:r>
            <a:endParaRPr sz="1800">
              <a:solidFill>
                <a:srgbClr val="000000"/>
              </a:solidFill>
              <a:highlight>
                <a:schemeClr val="dk1"/>
              </a:highlight>
              <a:latin typeface="Arial"/>
              <a:ea typeface="Arial"/>
              <a:cs typeface="Arial"/>
              <a:sym typeface="Arial"/>
            </a:endParaRPr>
          </a:p>
          <a:p>
            <a:pPr indent="-325755" lvl="1" marL="914400" rtl="0" algn="l">
              <a:lnSpc>
                <a:spcPct val="150000"/>
              </a:lnSpc>
              <a:spcBef>
                <a:spcPts val="0"/>
              </a:spcBef>
              <a:spcAft>
                <a:spcPts val="0"/>
              </a:spcAft>
              <a:buSzPct val="100000"/>
              <a:buFont typeface="Arial"/>
              <a:buChar char="➢"/>
            </a:pPr>
            <a:r>
              <a:rPr lang="vi" sz="1800">
                <a:solidFill>
                  <a:srgbClr val="000000"/>
                </a:solidFill>
                <a:highlight>
                  <a:schemeClr val="dk1"/>
                </a:highlight>
                <a:latin typeface="Arial"/>
                <a:ea typeface="Arial"/>
                <a:cs typeface="Arial"/>
                <a:sym typeface="Arial"/>
              </a:rPr>
              <a:t>IFPUG (ISO 20926 </a:t>
            </a:r>
            <a:r>
              <a:rPr lang="vi" sz="1800" u="sng">
                <a:solidFill>
                  <a:schemeClr val="hlink"/>
                </a:solidFill>
                <a:highlight>
                  <a:schemeClr val="dk1"/>
                </a:highlight>
                <a:latin typeface="Arial"/>
                <a:ea typeface="Arial"/>
                <a:cs typeface="Arial"/>
                <a:sym typeface="Arial"/>
                <a:hlinkClick r:id="rId4"/>
              </a:rPr>
              <a:t>[5]</a:t>
            </a:r>
            <a:r>
              <a:rPr lang="vi" sz="1800">
                <a:solidFill>
                  <a:srgbClr val="000000"/>
                </a:solidFill>
                <a:highlight>
                  <a:schemeClr val="dk1"/>
                </a:highlight>
                <a:latin typeface="Arial"/>
                <a:ea typeface="Arial"/>
                <a:cs typeface="Arial"/>
                <a:sym typeface="Arial"/>
              </a:rPr>
              <a:t>),</a:t>
            </a:r>
            <a:endParaRPr sz="1800">
              <a:solidFill>
                <a:srgbClr val="000000"/>
              </a:solidFill>
              <a:highlight>
                <a:schemeClr val="dk1"/>
              </a:highlight>
              <a:latin typeface="Arial"/>
              <a:ea typeface="Arial"/>
              <a:cs typeface="Arial"/>
              <a:sym typeface="Arial"/>
            </a:endParaRPr>
          </a:p>
          <a:p>
            <a:pPr indent="-325755" lvl="1" marL="914400" rtl="0" algn="l">
              <a:lnSpc>
                <a:spcPct val="150000"/>
              </a:lnSpc>
              <a:spcBef>
                <a:spcPts val="0"/>
              </a:spcBef>
              <a:spcAft>
                <a:spcPts val="0"/>
              </a:spcAft>
              <a:buSzPct val="100000"/>
              <a:buFont typeface="Arial"/>
              <a:buChar char="➢"/>
            </a:pPr>
            <a:r>
              <a:rPr lang="vi" sz="1800">
                <a:solidFill>
                  <a:srgbClr val="000000"/>
                </a:solidFill>
                <a:highlight>
                  <a:schemeClr val="dk1"/>
                </a:highlight>
                <a:latin typeface="Arial"/>
                <a:ea typeface="Arial"/>
                <a:cs typeface="Arial"/>
                <a:sym typeface="Arial"/>
              </a:rPr>
              <a:t>MKII (ISO 20968 </a:t>
            </a:r>
            <a:r>
              <a:rPr lang="vi" sz="1800" u="sng">
                <a:solidFill>
                  <a:schemeClr val="hlink"/>
                </a:solidFill>
                <a:highlight>
                  <a:schemeClr val="dk1"/>
                </a:highlight>
                <a:latin typeface="Arial"/>
                <a:ea typeface="Arial"/>
                <a:cs typeface="Arial"/>
                <a:sym typeface="Arial"/>
                <a:hlinkClick r:id="rId5"/>
              </a:rPr>
              <a:t>[6]</a:t>
            </a:r>
            <a:r>
              <a:rPr lang="vi" sz="1800">
                <a:solidFill>
                  <a:srgbClr val="000000"/>
                </a:solidFill>
                <a:highlight>
                  <a:schemeClr val="dk1"/>
                </a:highlight>
                <a:latin typeface="Arial"/>
                <a:ea typeface="Arial"/>
                <a:cs typeface="Arial"/>
                <a:sym typeface="Arial"/>
              </a:rPr>
              <a:t> ), </a:t>
            </a:r>
            <a:endParaRPr sz="1800">
              <a:solidFill>
                <a:srgbClr val="000000"/>
              </a:solidFill>
              <a:highlight>
                <a:schemeClr val="dk1"/>
              </a:highlight>
              <a:latin typeface="Arial"/>
              <a:ea typeface="Arial"/>
              <a:cs typeface="Arial"/>
              <a:sym typeface="Arial"/>
            </a:endParaRPr>
          </a:p>
          <a:p>
            <a:pPr indent="-325755" lvl="1" marL="914400" rtl="0" algn="l">
              <a:lnSpc>
                <a:spcPct val="150000"/>
              </a:lnSpc>
              <a:spcBef>
                <a:spcPts val="0"/>
              </a:spcBef>
              <a:spcAft>
                <a:spcPts val="0"/>
              </a:spcAft>
              <a:buSzPct val="100000"/>
              <a:buFont typeface="Arial"/>
              <a:buChar char="➢"/>
            </a:pPr>
            <a:r>
              <a:rPr lang="vi" sz="1800">
                <a:solidFill>
                  <a:srgbClr val="000000"/>
                </a:solidFill>
                <a:highlight>
                  <a:schemeClr val="dk1"/>
                </a:highlight>
                <a:latin typeface="Arial"/>
                <a:ea typeface="Arial"/>
                <a:cs typeface="Arial"/>
                <a:sym typeface="Arial"/>
              </a:rPr>
              <a:t>NESMA (ISO 24570 </a:t>
            </a:r>
            <a:r>
              <a:rPr lang="vi" sz="1800" u="sng">
                <a:solidFill>
                  <a:schemeClr val="hlink"/>
                </a:solidFill>
                <a:highlight>
                  <a:schemeClr val="dk1"/>
                </a:highlight>
                <a:latin typeface="Arial"/>
                <a:ea typeface="Arial"/>
                <a:cs typeface="Arial"/>
                <a:sym typeface="Arial"/>
                <a:hlinkClick r:id="rId6"/>
              </a:rPr>
              <a:t>[7]</a:t>
            </a:r>
            <a:r>
              <a:rPr lang="vi" sz="1800">
                <a:solidFill>
                  <a:srgbClr val="000000"/>
                </a:solidFill>
                <a:highlight>
                  <a:schemeClr val="dk1"/>
                </a:highlight>
                <a:latin typeface="Arial"/>
                <a:ea typeface="Arial"/>
                <a:cs typeface="Arial"/>
                <a:sym typeface="Arial"/>
              </a:rPr>
              <a:t>)</a:t>
            </a:r>
            <a:endParaRPr sz="1800">
              <a:solidFill>
                <a:srgbClr val="000000"/>
              </a:solidFill>
              <a:highlight>
                <a:schemeClr val="dk1"/>
              </a:highlight>
              <a:latin typeface="Arial"/>
              <a:ea typeface="Arial"/>
              <a:cs typeface="Arial"/>
              <a:sym typeface="Arial"/>
            </a:endParaRPr>
          </a:p>
          <a:p>
            <a:pPr indent="-325755" lvl="1" marL="914400" rtl="0" algn="l">
              <a:lnSpc>
                <a:spcPct val="150000"/>
              </a:lnSpc>
              <a:spcBef>
                <a:spcPts val="0"/>
              </a:spcBef>
              <a:spcAft>
                <a:spcPts val="0"/>
              </a:spcAft>
              <a:buSzPct val="100000"/>
              <a:buFont typeface="Times New Roman"/>
              <a:buChar char="➢"/>
            </a:pPr>
            <a:r>
              <a:rPr lang="vi" sz="1800">
                <a:solidFill>
                  <a:srgbClr val="000000"/>
                </a:solidFill>
                <a:highlight>
                  <a:schemeClr val="dk1"/>
                </a:highlight>
                <a:latin typeface="Arial"/>
                <a:ea typeface="Arial"/>
                <a:cs typeface="Arial"/>
                <a:sym typeface="Arial"/>
              </a:rPr>
              <a:t>FISMA (ISO29881 </a:t>
            </a:r>
            <a:r>
              <a:rPr lang="vi" sz="1800" u="sng">
                <a:solidFill>
                  <a:schemeClr val="hlink"/>
                </a:solidFill>
                <a:highlight>
                  <a:schemeClr val="dk1"/>
                </a:highlight>
                <a:latin typeface="Arial"/>
                <a:ea typeface="Arial"/>
                <a:cs typeface="Arial"/>
                <a:sym typeface="Arial"/>
                <a:hlinkClick r:id="rId7"/>
              </a:rPr>
              <a:t>[8]</a:t>
            </a:r>
            <a:r>
              <a:rPr lang="vi" sz="1800">
                <a:solidFill>
                  <a:srgbClr val="000000"/>
                </a:solidFill>
                <a:highlight>
                  <a:schemeClr val="dk1"/>
                </a:highlight>
                <a:latin typeface="Arial"/>
                <a:ea typeface="Arial"/>
                <a:cs typeface="Arial"/>
                <a:sym typeface="Arial"/>
              </a:rPr>
              <a:t> ).</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1200"/>
              </a:spcAft>
              <a:buNone/>
            </a:pPr>
            <a:r>
              <a:t/>
            </a:r>
            <a:endParaRPr sz="1800">
              <a:highlight>
                <a:schemeClr val="dk1"/>
              </a:highlight>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492575" y="437375"/>
            <a:ext cx="7505700" cy="622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Ngữ cảnh</a:t>
            </a:r>
            <a:endParaRPr>
              <a:latin typeface="Arial"/>
              <a:ea typeface="Arial"/>
              <a:cs typeface="Arial"/>
              <a:sym typeface="Arial"/>
            </a:endParaRPr>
          </a:p>
        </p:txBody>
      </p:sp>
      <p:sp>
        <p:nvSpPr>
          <p:cNvPr id="166" name="Google Shape;166;p19"/>
          <p:cNvSpPr txBox="1"/>
          <p:nvPr>
            <p:ph idx="1" type="body"/>
          </p:nvPr>
        </p:nvSpPr>
        <p:spPr>
          <a:xfrm>
            <a:off x="492575" y="1112650"/>
            <a:ext cx="7505700" cy="2448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Arial"/>
              <a:buChar char="❖"/>
            </a:pPr>
            <a:r>
              <a:rPr lang="vi" sz="1500">
                <a:solidFill>
                  <a:srgbClr val="000000"/>
                </a:solidFill>
                <a:latin typeface="Arial"/>
                <a:ea typeface="Arial"/>
                <a:cs typeface="Arial"/>
                <a:sym typeface="Arial"/>
              </a:rPr>
              <a:t>Phương pháp COSMIC</a:t>
            </a:r>
            <a:endParaRPr sz="1500">
              <a:solidFill>
                <a:srgbClr val="000000"/>
              </a:solidFill>
              <a:latin typeface="Arial"/>
              <a:ea typeface="Arial"/>
              <a:cs typeface="Arial"/>
              <a:sym typeface="Arial"/>
            </a:endParaRPr>
          </a:p>
          <a:p>
            <a:pPr indent="-323850" lvl="1" marL="914400" rtl="0" algn="l">
              <a:spcBef>
                <a:spcPts val="0"/>
              </a:spcBef>
              <a:spcAft>
                <a:spcPts val="0"/>
              </a:spcAft>
              <a:buClr>
                <a:srgbClr val="000000"/>
              </a:buClr>
              <a:buSzPts val="1500"/>
              <a:buFont typeface="Arial"/>
              <a:buChar char="➢"/>
            </a:pPr>
            <a:r>
              <a:rPr lang="vi" sz="1500">
                <a:solidFill>
                  <a:srgbClr val="000000"/>
                </a:solidFill>
                <a:latin typeface="Arial"/>
                <a:ea typeface="Arial"/>
                <a:cs typeface="Arial"/>
                <a:sym typeface="Arial"/>
              </a:rPr>
              <a:t>Bỏ qua khía cạnh cấu trúc của cấu trúc tuần tự( số gói, hệ thống con, tệp, lớp, chương trình con)</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vi" sz="1500">
                <a:solidFill>
                  <a:srgbClr val="000000"/>
                </a:solidFill>
                <a:latin typeface="Arial"/>
                <a:ea typeface="Arial"/>
                <a:cs typeface="Arial"/>
                <a:sym typeface="Arial"/>
              </a:rPr>
              <a:t>Sự thiếu sót của một vài nghiên cứu liên quan</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sz="1500">
              <a:latin typeface="Arial"/>
              <a:ea typeface="Arial"/>
              <a:cs typeface="Arial"/>
              <a:sym typeface="Arial"/>
            </a:endParaRPr>
          </a:p>
        </p:txBody>
      </p:sp>
      <p:pic>
        <p:nvPicPr>
          <p:cNvPr id="167" name="Google Shape;167;p19"/>
          <p:cNvPicPr preferRelativeResize="0"/>
          <p:nvPr/>
        </p:nvPicPr>
        <p:blipFill>
          <a:blip r:embed="rId3">
            <a:alphaModFix/>
          </a:blip>
          <a:stretch>
            <a:fillRect/>
          </a:stretch>
        </p:blipFill>
        <p:spPr>
          <a:xfrm>
            <a:off x="768988" y="2295675"/>
            <a:ext cx="7606025" cy="2381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title"/>
          </p:nvPr>
        </p:nvSpPr>
        <p:spPr>
          <a:xfrm>
            <a:off x="690750" y="466350"/>
            <a:ext cx="6558600" cy="5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vi" sz="2600">
                <a:latin typeface="Arial"/>
                <a:ea typeface="Arial"/>
                <a:cs typeface="Arial"/>
                <a:sym typeface="Arial"/>
              </a:rPr>
              <a:t>Phương pháp đề xuất</a:t>
            </a:r>
            <a:r>
              <a:rPr lang="vi" sz="2100">
                <a:latin typeface="Arial"/>
                <a:ea typeface="Arial"/>
                <a:cs typeface="Arial"/>
                <a:sym typeface="Arial"/>
              </a:rPr>
              <a:t> </a:t>
            </a:r>
            <a:endParaRPr sz="2100">
              <a:latin typeface="Arial"/>
              <a:ea typeface="Arial"/>
              <a:cs typeface="Arial"/>
              <a:sym typeface="Arial"/>
            </a:endParaRPr>
          </a:p>
        </p:txBody>
      </p:sp>
      <p:sp>
        <p:nvSpPr>
          <p:cNvPr id="173" name="Google Shape;173;p20"/>
          <p:cNvSpPr txBox="1"/>
          <p:nvPr>
            <p:ph idx="1" type="body"/>
          </p:nvPr>
        </p:nvSpPr>
        <p:spPr>
          <a:xfrm>
            <a:off x="530300" y="1137150"/>
            <a:ext cx="7849200" cy="3136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vi" sz="1800">
                <a:solidFill>
                  <a:srgbClr val="000000"/>
                </a:solidFill>
                <a:highlight>
                  <a:schemeClr val="dk1"/>
                </a:highlight>
                <a:latin typeface="Arial"/>
                <a:ea typeface="Arial"/>
                <a:cs typeface="Arial"/>
                <a:sym typeface="Arial"/>
              </a:rPr>
              <a:t>Để giải quyết thách thức của một phép đo toàn diện hơn với kích thước của một sơ đồ tuần tự(Sequence Diagram),</a:t>
            </a:r>
            <a:endParaRPr sz="1800">
              <a:solidFill>
                <a:srgbClr val="000000"/>
              </a:solidFill>
              <a:highlight>
                <a:schemeClr val="dk1"/>
              </a:highlight>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vi" sz="1800">
                <a:solidFill>
                  <a:srgbClr val="000000"/>
                </a:solidFill>
                <a:highlight>
                  <a:schemeClr val="dk1"/>
                </a:highlight>
                <a:latin typeface="Arial"/>
                <a:ea typeface="Arial"/>
                <a:cs typeface="Arial"/>
                <a:sym typeface="Arial"/>
              </a:rPr>
              <a:t>Đề xuất đo lường cấu trúc điều khiển phần mềm (software control structures) được mô tả thông qua cấu trúc alt(Alternative fragment), opt(Option fragment), loop(các messages bị lặp lại)</a:t>
            </a:r>
            <a:endParaRPr sz="1800">
              <a:solidFill>
                <a:srgbClr val="000000"/>
              </a:solidFill>
              <a:highlight>
                <a:schemeClr val="dk1"/>
              </a:highlight>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vi" sz="1800">
                <a:solidFill>
                  <a:srgbClr val="000000"/>
                </a:solidFill>
                <a:highlight>
                  <a:schemeClr val="dk1"/>
                </a:highlight>
                <a:latin typeface="Arial"/>
                <a:ea typeface="Arial"/>
                <a:cs typeface="Arial"/>
                <a:sym typeface="Arial"/>
              </a:rPr>
              <a:t>Đánh giá  toàn diện phương pháp đo lường thông qua các nghiên cứu điển hình</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1200"/>
              </a:spcAft>
              <a:buNone/>
            </a:pPr>
            <a:r>
              <a:t/>
            </a:r>
            <a:endParaRPr sz="1800">
              <a:solidFill>
                <a:srgbClr val="000000"/>
              </a:solidFill>
              <a:highlight>
                <a:schemeClr val="dk1"/>
              </a:highlight>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type="title"/>
          </p:nvPr>
        </p:nvSpPr>
        <p:spPr>
          <a:xfrm>
            <a:off x="374925" y="255625"/>
            <a:ext cx="7505700" cy="67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latin typeface="Arial"/>
                <a:ea typeface="Arial"/>
                <a:cs typeface="Arial"/>
                <a:sym typeface="Arial"/>
              </a:rPr>
              <a:t>Nghiên cứu liên quan</a:t>
            </a:r>
            <a:endParaRPr>
              <a:latin typeface="Arial"/>
              <a:ea typeface="Arial"/>
              <a:cs typeface="Arial"/>
              <a:sym typeface="Arial"/>
            </a:endParaRPr>
          </a:p>
        </p:txBody>
      </p:sp>
      <p:sp>
        <p:nvSpPr>
          <p:cNvPr id="179" name="Google Shape;179;p21"/>
          <p:cNvSpPr txBox="1"/>
          <p:nvPr>
            <p:ph idx="1" type="body"/>
          </p:nvPr>
        </p:nvSpPr>
        <p:spPr>
          <a:xfrm>
            <a:off x="374925" y="972100"/>
            <a:ext cx="8304000" cy="3731100"/>
          </a:xfrm>
          <a:prstGeom prst="rect">
            <a:avLst/>
          </a:prstGeom>
          <a:ln cap="flat" cmpd="sng" w="9525">
            <a:solidFill>
              <a:srgbClr val="333333"/>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Font typeface="Arial"/>
              <a:buAutoNum type="arabicPeriod"/>
            </a:pPr>
            <a:r>
              <a:rPr lang="vi" sz="1800">
                <a:solidFill>
                  <a:srgbClr val="000000"/>
                </a:solidFill>
                <a:highlight>
                  <a:schemeClr val="dk1"/>
                </a:highlight>
                <a:latin typeface="Arial"/>
                <a:ea typeface="Arial"/>
                <a:cs typeface="Arial"/>
                <a:sym typeface="Arial"/>
              </a:rPr>
              <a:t>UML Sequence Diagrams: Sử dụng để mô hình hóa động, tập trung vào hành vi trong hệ thống và tương tác giữa các đối tượng với các mức độ chi tiết khác nhau( Nghiên cứu của </a:t>
            </a:r>
            <a:r>
              <a:rPr lang="vi" sz="1800" u="sng">
                <a:solidFill>
                  <a:srgbClr val="000000"/>
                </a:solidFill>
                <a:highlight>
                  <a:schemeClr val="dk1"/>
                </a:highlight>
                <a:latin typeface="Arial"/>
                <a:ea typeface="Arial"/>
                <a:cs typeface="Arial"/>
                <a:sym typeface="Arial"/>
                <a:hlinkClick r:id="rId3">
                  <a:extLst>
                    <a:ext uri="{A12FA001-AC4F-418D-AE19-62706E023703}">
                      <ahyp:hlinkClr val="tx"/>
                    </a:ext>
                  </a:extLst>
                </a:hlinkClick>
              </a:rPr>
              <a:t>J. Gabay, D. Gabay,</a:t>
            </a:r>
            <a:r>
              <a:rPr lang="vi" sz="1800">
                <a:solidFill>
                  <a:srgbClr val="000000"/>
                </a:solidFill>
                <a:highlight>
                  <a:schemeClr val="dk1"/>
                </a:highlight>
                <a:latin typeface="Arial"/>
                <a:ea typeface="Arial"/>
                <a:cs typeface="Arial"/>
                <a:sym typeface="Arial"/>
              </a:rPr>
              <a:t>)</a:t>
            </a:r>
            <a:endParaRPr sz="1800">
              <a:solidFill>
                <a:srgbClr val="000000"/>
              </a:solidFill>
              <a:highlight>
                <a:schemeClr val="dk1"/>
              </a:highlight>
              <a:latin typeface="Arial"/>
              <a:ea typeface="Arial"/>
              <a:cs typeface="Arial"/>
              <a:sym typeface="Arial"/>
            </a:endParaRPr>
          </a:p>
          <a:p>
            <a:pPr indent="-342900" lvl="0" marL="457200" rtl="0" algn="l">
              <a:spcBef>
                <a:spcPts val="0"/>
              </a:spcBef>
              <a:spcAft>
                <a:spcPts val="0"/>
              </a:spcAft>
              <a:buClr>
                <a:srgbClr val="000000"/>
              </a:buClr>
              <a:buSzPts val="1800"/>
              <a:buFont typeface="Arial"/>
              <a:buAutoNum type="arabicPeriod"/>
            </a:pPr>
            <a:r>
              <a:rPr lang="vi" sz="1800">
                <a:solidFill>
                  <a:srgbClr val="000000"/>
                </a:solidFill>
                <a:highlight>
                  <a:schemeClr val="dk1"/>
                </a:highlight>
                <a:latin typeface="Arial"/>
                <a:ea typeface="Arial"/>
                <a:cs typeface="Arial"/>
                <a:sym typeface="Arial"/>
              </a:rPr>
              <a:t>Đo lường COSMIC của Sequence diagrams</a:t>
            </a:r>
            <a:endParaRPr sz="1800">
              <a:solidFill>
                <a:srgbClr val="000000"/>
              </a:solidFill>
              <a:highlight>
                <a:schemeClr val="dk1"/>
              </a:highlight>
              <a:latin typeface="Arial"/>
              <a:ea typeface="Arial"/>
              <a:cs typeface="Arial"/>
              <a:sym typeface="Arial"/>
            </a:endParaRPr>
          </a:p>
          <a:p>
            <a:pPr indent="0" lvl="0" marL="457200" rtl="0" algn="l">
              <a:spcBef>
                <a:spcPts val="1200"/>
              </a:spcBef>
              <a:spcAft>
                <a:spcPts val="0"/>
              </a:spcAft>
              <a:buNone/>
            </a:pPr>
            <a:r>
              <a:rPr lang="vi" sz="1800">
                <a:solidFill>
                  <a:srgbClr val="000000"/>
                </a:solidFill>
                <a:highlight>
                  <a:schemeClr val="dk1"/>
                </a:highlight>
                <a:latin typeface="Arial"/>
                <a:ea typeface="Arial"/>
                <a:cs typeface="Arial"/>
                <a:sym typeface="Arial"/>
              </a:rPr>
              <a:t>Nghiên cứu sử dụng PP COSMIC </a:t>
            </a:r>
            <a:r>
              <a:rPr lang="vi" sz="1800">
                <a:solidFill>
                  <a:srgbClr val="000000"/>
                </a:solidFill>
                <a:highlight>
                  <a:srgbClr val="FFFFFF"/>
                </a:highlight>
                <a:latin typeface="Arial"/>
                <a:ea typeface="Arial"/>
                <a:cs typeface="Arial"/>
                <a:sym typeface="Arial"/>
              </a:rPr>
              <a:t>để đo lường kích thước chức năng của các sơ đồ UML khác nhau trong CFP (COSMIC function point)</a:t>
            </a:r>
            <a:endParaRPr sz="1800">
              <a:solidFill>
                <a:srgbClr val="000000"/>
              </a:solidFill>
              <a:highlight>
                <a:srgbClr val="FFFFFF"/>
              </a:highlight>
              <a:latin typeface="Arial"/>
              <a:ea typeface="Arial"/>
              <a:cs typeface="Arial"/>
              <a:sym typeface="Arial"/>
            </a:endParaRPr>
          </a:p>
          <a:p>
            <a:pPr indent="0" lvl="0" marL="457200" rtl="0" algn="l">
              <a:spcBef>
                <a:spcPts val="1200"/>
              </a:spcBef>
              <a:spcAft>
                <a:spcPts val="0"/>
              </a:spcAft>
              <a:buNone/>
            </a:pPr>
            <a:r>
              <a:t/>
            </a:r>
            <a:endParaRPr sz="1800">
              <a:solidFill>
                <a:srgbClr val="000000"/>
              </a:solidFill>
              <a:highlight>
                <a:srgbClr val="FFFFFF"/>
              </a:highlight>
              <a:latin typeface="Times New Roman"/>
              <a:ea typeface="Times New Roman"/>
              <a:cs typeface="Times New Roman"/>
              <a:sym typeface="Times New Roman"/>
            </a:endParaRPr>
          </a:p>
          <a:p>
            <a:pPr indent="0" lvl="0" marL="457200" rtl="0" algn="l">
              <a:spcBef>
                <a:spcPts val="1200"/>
              </a:spcBef>
              <a:spcAft>
                <a:spcPts val="0"/>
              </a:spcAft>
              <a:buNone/>
            </a:pPr>
            <a:r>
              <a:t/>
            </a:r>
            <a:endParaRPr sz="1800">
              <a:solidFill>
                <a:srgbClr val="000000"/>
              </a:solidFill>
              <a:highlight>
                <a:srgbClr val="FFFFFF"/>
              </a:highlight>
              <a:latin typeface="Times New Roman"/>
              <a:ea typeface="Times New Roman"/>
              <a:cs typeface="Times New Roman"/>
              <a:sym typeface="Times New Roman"/>
            </a:endParaRPr>
          </a:p>
          <a:p>
            <a:pPr indent="0" lvl="0" marL="457200" rtl="0" algn="l">
              <a:spcBef>
                <a:spcPts val="1200"/>
              </a:spcBef>
              <a:spcAft>
                <a:spcPts val="1200"/>
              </a:spcAft>
              <a:buNone/>
            </a:pPr>
            <a:r>
              <a:t/>
            </a:r>
            <a:endParaRPr sz="1800">
              <a:highlight>
                <a:schemeClr val="dk1"/>
              </a:highlight>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2"/>
          <p:cNvSpPr txBox="1"/>
          <p:nvPr>
            <p:ph type="title"/>
          </p:nvPr>
        </p:nvSpPr>
        <p:spPr>
          <a:xfrm>
            <a:off x="444325" y="422175"/>
            <a:ext cx="7505700" cy="67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latin typeface="Arial"/>
                <a:ea typeface="Arial"/>
                <a:cs typeface="Arial"/>
                <a:sym typeface="Arial"/>
              </a:rPr>
              <a:t>Các nghiên cứu liên quan</a:t>
            </a:r>
            <a:endParaRPr>
              <a:latin typeface="Arial"/>
              <a:ea typeface="Arial"/>
              <a:cs typeface="Arial"/>
              <a:sym typeface="Arial"/>
            </a:endParaRPr>
          </a:p>
        </p:txBody>
      </p:sp>
      <p:sp>
        <p:nvSpPr>
          <p:cNvPr id="185" name="Google Shape;185;p22"/>
          <p:cNvSpPr txBox="1"/>
          <p:nvPr>
            <p:ph idx="1" type="body"/>
          </p:nvPr>
        </p:nvSpPr>
        <p:spPr>
          <a:xfrm>
            <a:off x="572975" y="1260175"/>
            <a:ext cx="8045100" cy="3178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Font typeface="Times New Roman"/>
              <a:buChar char="●"/>
            </a:pPr>
            <a:r>
              <a:rPr lang="vi" sz="1800">
                <a:solidFill>
                  <a:srgbClr val="000000"/>
                </a:solidFill>
                <a:highlight>
                  <a:srgbClr val="FFFFFF"/>
                </a:highlight>
                <a:latin typeface="Times New Roman"/>
                <a:ea typeface="Times New Roman"/>
                <a:cs typeface="Times New Roman"/>
                <a:sym typeface="Times New Roman"/>
              </a:rPr>
              <a:t> </a:t>
            </a:r>
            <a:r>
              <a:rPr lang="vi" sz="1800">
                <a:solidFill>
                  <a:srgbClr val="000000"/>
                </a:solidFill>
                <a:highlight>
                  <a:srgbClr val="FFFFFF"/>
                </a:highlight>
                <a:latin typeface="Arial"/>
                <a:ea typeface="Arial"/>
                <a:cs typeface="Arial"/>
                <a:sym typeface="Arial"/>
              </a:rPr>
              <a:t>G. Lévesque, V. Bévo, T.H. Cao, Estimating software size with UML models, in: C3S2E conference (C3S2E ‘08), Montreal, Canada, 2008.</a:t>
            </a:r>
            <a:endParaRPr sz="1800">
              <a:solidFill>
                <a:srgbClr val="000000"/>
              </a:solidFill>
              <a:highlight>
                <a:srgbClr val="FFFFFF"/>
              </a:highlight>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vi" sz="1800">
                <a:solidFill>
                  <a:srgbClr val="000000"/>
                </a:solidFill>
                <a:highlight>
                  <a:srgbClr val="FFFFFF"/>
                </a:highlight>
                <a:latin typeface="Arial"/>
                <a:ea typeface="Arial"/>
                <a:cs typeface="Arial"/>
                <a:sym typeface="Arial"/>
              </a:rPr>
              <a:t>Lavazza, VD Bianco, Một nghiên cứu điển hình trong phép đo kích thước chức năng COSMIC	</a:t>
            </a:r>
            <a:endParaRPr sz="1800">
              <a:solidFill>
                <a:srgbClr val="000000"/>
              </a:solidFill>
              <a:highlight>
                <a:srgbClr val="FFFFFF"/>
              </a:highlight>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vi" sz="1800">
                <a:solidFill>
                  <a:srgbClr val="000000"/>
                </a:solidFill>
                <a:highlight>
                  <a:srgbClr val="FFFFFF"/>
                </a:highlight>
                <a:latin typeface="Arial"/>
                <a:ea typeface="Arial"/>
                <a:cs typeface="Arial"/>
                <a:sym typeface="Arial"/>
              </a:rPr>
              <a:t>A. Sellami, H. Ben-Abdallah, Functional size of use case diagrams: a fine-grain measurement, in: 14th International Conference on Software Engineering Advances (ICSEA 2009), Porto, Portugal, 2009.</a:t>
            </a:r>
            <a:endParaRPr sz="1800">
              <a:solidFill>
                <a:srgbClr val="000000"/>
              </a:solidFill>
              <a:highlight>
                <a:srgbClr val="FFFFFF"/>
              </a:highlight>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txBox="1"/>
          <p:nvPr>
            <p:ph idx="1" type="body"/>
          </p:nvPr>
        </p:nvSpPr>
        <p:spPr>
          <a:xfrm>
            <a:off x="475800" y="1065500"/>
            <a:ext cx="7849200" cy="3136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vi" sz="1900">
                <a:solidFill>
                  <a:srgbClr val="000000"/>
                </a:solidFill>
                <a:highlight>
                  <a:schemeClr val="dk1"/>
                </a:highlight>
                <a:latin typeface="Arial"/>
                <a:ea typeface="Arial"/>
                <a:cs typeface="Arial"/>
                <a:sym typeface="Arial"/>
              </a:rPr>
              <a:t>I. </a:t>
            </a:r>
            <a:r>
              <a:rPr lang="vi" sz="1900">
                <a:solidFill>
                  <a:srgbClr val="000000"/>
                </a:solidFill>
                <a:highlight>
                  <a:schemeClr val="dk1"/>
                </a:highlight>
                <a:latin typeface="Arial"/>
                <a:ea typeface="Arial"/>
                <a:cs typeface="Arial"/>
                <a:sym typeface="Arial"/>
              </a:rPr>
              <a:t>Quy trình FSM (functional size measurement) cho Sequence Diagram ở mức độ chi tiết của phương pháp Cosmic</a:t>
            </a:r>
            <a:endParaRPr sz="1900">
              <a:solidFill>
                <a:srgbClr val="000000"/>
              </a:solidFill>
              <a:highlight>
                <a:schemeClr val="dk1"/>
              </a:highlight>
              <a:latin typeface="Arial"/>
              <a:ea typeface="Arial"/>
              <a:cs typeface="Arial"/>
              <a:sym typeface="Arial"/>
            </a:endParaRPr>
          </a:p>
          <a:p>
            <a:pPr indent="-342900" lvl="0" marL="457200" rtl="0" algn="l">
              <a:spcBef>
                <a:spcPts val="1200"/>
              </a:spcBef>
              <a:spcAft>
                <a:spcPts val="0"/>
              </a:spcAft>
              <a:buClr>
                <a:srgbClr val="000000"/>
              </a:buClr>
              <a:buSzPts val="1800"/>
              <a:buFont typeface="Arial"/>
              <a:buAutoNum type="arabicPeriod"/>
            </a:pPr>
            <a:r>
              <a:rPr lang="vi" sz="1800">
                <a:solidFill>
                  <a:srgbClr val="000000"/>
                </a:solidFill>
                <a:highlight>
                  <a:schemeClr val="dk1"/>
                </a:highlight>
                <a:latin typeface="Arial"/>
                <a:ea typeface="Arial"/>
                <a:cs typeface="Arial"/>
                <a:sym typeface="Arial"/>
              </a:rPr>
              <a:t>Ánh xạ Cosmic với Sequence Diagram</a:t>
            </a:r>
            <a:endParaRPr sz="1800">
              <a:solidFill>
                <a:srgbClr val="000000"/>
              </a:solidFill>
              <a:highlight>
                <a:schemeClr val="dk1"/>
              </a:highlight>
              <a:latin typeface="Arial"/>
              <a:ea typeface="Arial"/>
              <a:cs typeface="Arial"/>
              <a:sym typeface="Arial"/>
            </a:endParaRPr>
          </a:p>
          <a:p>
            <a:pPr indent="-342900" lvl="0" marL="457200" rtl="0" algn="l">
              <a:spcBef>
                <a:spcPts val="0"/>
              </a:spcBef>
              <a:spcAft>
                <a:spcPts val="0"/>
              </a:spcAft>
              <a:buClr>
                <a:srgbClr val="000000"/>
              </a:buClr>
              <a:buSzPts val="1800"/>
              <a:buFont typeface="Arial"/>
              <a:buAutoNum type="arabicPeriod"/>
            </a:pPr>
            <a:r>
              <a:rPr lang="vi" sz="1800">
                <a:solidFill>
                  <a:srgbClr val="000000"/>
                </a:solidFill>
                <a:highlight>
                  <a:schemeClr val="dk1"/>
                </a:highlight>
                <a:latin typeface="Arial"/>
                <a:ea typeface="Arial"/>
                <a:cs typeface="Arial"/>
                <a:sym typeface="Arial"/>
              </a:rPr>
              <a:t>Quy tắc lập mô hình (Modeling rules)</a:t>
            </a:r>
            <a:endParaRPr sz="1800">
              <a:solidFill>
                <a:srgbClr val="000000"/>
              </a:solidFill>
              <a:highlight>
                <a:schemeClr val="dk1"/>
              </a:highlight>
              <a:latin typeface="Arial"/>
              <a:ea typeface="Arial"/>
              <a:cs typeface="Arial"/>
              <a:sym typeface="Arial"/>
            </a:endParaRPr>
          </a:p>
          <a:p>
            <a:pPr indent="-342900" lvl="0" marL="457200" rtl="0" algn="l">
              <a:spcBef>
                <a:spcPts val="0"/>
              </a:spcBef>
              <a:spcAft>
                <a:spcPts val="0"/>
              </a:spcAft>
              <a:buClr>
                <a:srgbClr val="000000"/>
              </a:buClr>
              <a:buSzPts val="1800"/>
              <a:buFont typeface="Arial"/>
              <a:buAutoNum type="arabicPeriod"/>
            </a:pPr>
            <a:r>
              <a:rPr lang="vi" sz="1800">
                <a:solidFill>
                  <a:srgbClr val="000000"/>
                </a:solidFill>
                <a:highlight>
                  <a:schemeClr val="dk1"/>
                </a:highlight>
                <a:latin typeface="Arial"/>
                <a:ea typeface="Arial"/>
                <a:cs typeface="Arial"/>
                <a:sym typeface="Arial"/>
              </a:rPr>
              <a:t>Xác định kích cỡ </a:t>
            </a:r>
            <a:r>
              <a:rPr lang="vi" sz="1800">
                <a:solidFill>
                  <a:srgbClr val="000000"/>
                </a:solidFill>
                <a:highlight>
                  <a:schemeClr val="dk1"/>
                </a:highlight>
                <a:latin typeface="Arial"/>
                <a:ea typeface="Arial"/>
                <a:cs typeface="Arial"/>
                <a:sym typeface="Arial"/>
              </a:rPr>
              <a:t>Sequence Diagram theo đơn vị CFP (COSMIC Function Point).</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1200"/>
              </a:spcAft>
              <a:buNone/>
            </a:pPr>
            <a:r>
              <a:t/>
            </a:r>
            <a:endParaRPr sz="1800">
              <a:highlight>
                <a:schemeClr val="dk1"/>
              </a:highlight>
            </a:endParaRPr>
          </a:p>
        </p:txBody>
      </p:sp>
      <p:sp>
        <p:nvSpPr>
          <p:cNvPr id="191" name="Google Shape;191;p23"/>
          <p:cNvSpPr txBox="1"/>
          <p:nvPr>
            <p:ph type="title"/>
          </p:nvPr>
        </p:nvSpPr>
        <p:spPr>
          <a:xfrm>
            <a:off x="398200" y="490400"/>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Phương pháp thực hiện</a:t>
            </a:r>
            <a:endParaRPr>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txBox="1"/>
          <p:nvPr>
            <p:ph idx="1" type="body"/>
          </p:nvPr>
        </p:nvSpPr>
        <p:spPr>
          <a:xfrm>
            <a:off x="475788" y="1170275"/>
            <a:ext cx="7849200" cy="35259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vi" sz="1800">
                <a:solidFill>
                  <a:srgbClr val="000000"/>
                </a:solidFill>
                <a:highlight>
                  <a:schemeClr val="dk1"/>
                </a:highlight>
                <a:latin typeface="Arial"/>
                <a:ea typeface="Arial"/>
                <a:cs typeface="Arial"/>
                <a:sym typeface="Arial"/>
              </a:rPr>
              <a:t>1. </a:t>
            </a:r>
            <a:r>
              <a:rPr lang="vi" sz="1800">
                <a:solidFill>
                  <a:srgbClr val="000000"/>
                </a:solidFill>
                <a:highlight>
                  <a:schemeClr val="dk1"/>
                </a:highlight>
                <a:latin typeface="Arial"/>
                <a:ea typeface="Arial"/>
                <a:cs typeface="Arial"/>
                <a:sym typeface="Arial"/>
              </a:rPr>
              <a:t>Ánh xạ các khái niệm Cosmic với Sequence Diagram</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1200"/>
              </a:spcAft>
              <a:buNone/>
            </a:pPr>
            <a:r>
              <a:t/>
            </a:r>
            <a:endParaRPr sz="1800">
              <a:highlight>
                <a:schemeClr val="dk1"/>
              </a:highlight>
            </a:endParaRPr>
          </a:p>
        </p:txBody>
      </p:sp>
      <p:pic>
        <p:nvPicPr>
          <p:cNvPr id="197" name="Google Shape;197;p24"/>
          <p:cNvPicPr preferRelativeResize="0"/>
          <p:nvPr/>
        </p:nvPicPr>
        <p:blipFill>
          <a:blip r:embed="rId3">
            <a:alphaModFix/>
          </a:blip>
          <a:stretch>
            <a:fillRect/>
          </a:stretch>
        </p:blipFill>
        <p:spPr>
          <a:xfrm>
            <a:off x="1709362" y="1732350"/>
            <a:ext cx="5382074" cy="3042750"/>
          </a:xfrm>
          <a:prstGeom prst="rect">
            <a:avLst/>
          </a:prstGeom>
          <a:noFill/>
          <a:ln>
            <a:noFill/>
          </a:ln>
        </p:spPr>
      </p:pic>
      <p:sp>
        <p:nvSpPr>
          <p:cNvPr id="198" name="Google Shape;198;p24"/>
          <p:cNvSpPr txBox="1"/>
          <p:nvPr>
            <p:ph type="title"/>
          </p:nvPr>
        </p:nvSpPr>
        <p:spPr>
          <a:xfrm>
            <a:off x="398200" y="490400"/>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Phương pháp thực hiện</a:t>
            </a:r>
            <a:endParaRPr>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body"/>
          </p:nvPr>
        </p:nvSpPr>
        <p:spPr>
          <a:xfrm>
            <a:off x="712250" y="986125"/>
            <a:ext cx="3920100" cy="37491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vi" sz="1800">
                <a:solidFill>
                  <a:srgbClr val="000000"/>
                </a:solidFill>
                <a:highlight>
                  <a:schemeClr val="dk1"/>
                </a:highlight>
                <a:latin typeface="Arial"/>
                <a:ea typeface="Arial"/>
                <a:cs typeface="Arial"/>
                <a:sym typeface="Arial"/>
              </a:rPr>
              <a:t>2. </a:t>
            </a:r>
            <a:r>
              <a:rPr lang="vi" sz="1800">
                <a:solidFill>
                  <a:srgbClr val="000000"/>
                </a:solidFill>
                <a:highlight>
                  <a:schemeClr val="dk1"/>
                </a:highlight>
                <a:latin typeface="Arial"/>
                <a:ea typeface="Arial"/>
                <a:cs typeface="Arial"/>
                <a:sym typeface="Arial"/>
              </a:rPr>
              <a:t>Quy tắc lập mô hình (Modeling rules)</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rPr b="1" lang="vi" sz="1400">
                <a:solidFill>
                  <a:srgbClr val="000000"/>
                </a:solidFill>
                <a:highlight>
                  <a:schemeClr val="dk1"/>
                </a:highlight>
                <a:latin typeface="Arial"/>
                <a:ea typeface="Arial"/>
                <a:cs typeface="Arial"/>
                <a:sym typeface="Arial"/>
              </a:rPr>
              <a:t>InterR1</a:t>
            </a:r>
            <a:r>
              <a:rPr lang="vi" sz="1400">
                <a:solidFill>
                  <a:srgbClr val="000000"/>
                </a:solidFill>
                <a:highlight>
                  <a:schemeClr val="dk1"/>
                </a:highlight>
                <a:latin typeface="Arial"/>
                <a:ea typeface="Arial"/>
                <a:cs typeface="Arial"/>
                <a:sym typeface="Arial"/>
              </a:rPr>
              <a:t>: Nếu bên gửi messages là </a:t>
            </a:r>
            <a:r>
              <a:rPr b="1" lang="vi" sz="1400">
                <a:solidFill>
                  <a:srgbClr val="000000"/>
                </a:solidFill>
                <a:highlight>
                  <a:schemeClr val="dk1"/>
                </a:highlight>
                <a:latin typeface="Arial"/>
                <a:ea typeface="Arial"/>
                <a:cs typeface="Arial"/>
                <a:sym typeface="Arial"/>
              </a:rPr>
              <a:t>UI/physical device</a:t>
            </a:r>
            <a:r>
              <a:rPr lang="vi" sz="1400">
                <a:solidFill>
                  <a:srgbClr val="000000"/>
                </a:solidFill>
                <a:highlight>
                  <a:schemeClr val="dk1"/>
                </a:highlight>
                <a:latin typeface="Arial"/>
                <a:ea typeface="Arial"/>
                <a:cs typeface="Arial"/>
                <a:sym typeface="Arial"/>
              </a:rPr>
              <a:t>, bên nhận là 1 </a:t>
            </a:r>
            <a:r>
              <a:rPr b="1" lang="vi" sz="1400">
                <a:solidFill>
                  <a:srgbClr val="000000"/>
                </a:solidFill>
                <a:highlight>
                  <a:schemeClr val="dk1"/>
                </a:highlight>
                <a:latin typeface="Arial"/>
                <a:ea typeface="Arial"/>
                <a:cs typeface="Arial"/>
                <a:sym typeface="Arial"/>
              </a:rPr>
              <a:t>object</a:t>
            </a:r>
            <a:r>
              <a:rPr lang="vi" sz="1400">
                <a:solidFill>
                  <a:srgbClr val="000000"/>
                </a:solidFill>
                <a:highlight>
                  <a:schemeClr val="dk1"/>
                </a:highlight>
                <a:latin typeface="Arial"/>
                <a:ea typeface="Arial"/>
                <a:cs typeface="Arial"/>
                <a:sym typeface="Arial"/>
              </a:rPr>
              <a:t> thì </a:t>
            </a:r>
            <a:r>
              <a:rPr b="1" lang="vi" sz="1400">
                <a:solidFill>
                  <a:srgbClr val="000000"/>
                </a:solidFill>
                <a:highlight>
                  <a:schemeClr val="dk1"/>
                </a:highlight>
                <a:latin typeface="Arial"/>
                <a:ea typeface="Arial"/>
                <a:cs typeface="Arial"/>
                <a:sym typeface="Arial"/>
              </a:rPr>
              <a:t>data movement</a:t>
            </a:r>
            <a:r>
              <a:rPr lang="vi" sz="1400">
                <a:solidFill>
                  <a:srgbClr val="000000"/>
                </a:solidFill>
                <a:highlight>
                  <a:schemeClr val="dk1"/>
                </a:highlight>
                <a:latin typeface="Arial"/>
                <a:ea typeface="Arial"/>
                <a:cs typeface="Arial"/>
                <a:sym typeface="Arial"/>
              </a:rPr>
              <a:t> được coi là 1 </a:t>
            </a:r>
            <a:r>
              <a:rPr b="1" lang="vi" sz="1400">
                <a:solidFill>
                  <a:srgbClr val="000000"/>
                </a:solidFill>
                <a:highlight>
                  <a:schemeClr val="dk1"/>
                </a:highlight>
                <a:latin typeface="Arial"/>
                <a:ea typeface="Arial"/>
                <a:cs typeface="Arial"/>
                <a:sym typeface="Arial"/>
              </a:rPr>
              <a:t>Entry (E)</a:t>
            </a:r>
            <a:r>
              <a:rPr lang="vi" sz="1400">
                <a:solidFill>
                  <a:srgbClr val="000000"/>
                </a:solidFill>
                <a:highlight>
                  <a:schemeClr val="dk1"/>
                </a:highlight>
                <a:latin typeface="Arial"/>
                <a:ea typeface="Arial"/>
                <a:cs typeface="Arial"/>
                <a:sym typeface="Arial"/>
              </a:rPr>
              <a:t>. Nếu thông điệp được truyền giữa 2 </a:t>
            </a:r>
            <a:r>
              <a:rPr b="1" lang="vi" sz="1400">
                <a:solidFill>
                  <a:srgbClr val="000000"/>
                </a:solidFill>
                <a:highlight>
                  <a:schemeClr val="dk1"/>
                </a:highlight>
                <a:latin typeface="Arial"/>
                <a:ea typeface="Arial"/>
                <a:cs typeface="Arial"/>
                <a:sym typeface="Arial"/>
              </a:rPr>
              <a:t>object</a:t>
            </a:r>
            <a:r>
              <a:rPr lang="vi" sz="1400">
                <a:solidFill>
                  <a:srgbClr val="000000"/>
                </a:solidFill>
                <a:highlight>
                  <a:schemeClr val="dk1"/>
                </a:highlight>
                <a:latin typeface="Arial"/>
                <a:ea typeface="Arial"/>
                <a:cs typeface="Arial"/>
                <a:sym typeface="Arial"/>
              </a:rPr>
              <a:t>, </a:t>
            </a:r>
            <a:r>
              <a:rPr b="1" lang="vi" sz="1400">
                <a:solidFill>
                  <a:srgbClr val="000000"/>
                </a:solidFill>
                <a:highlight>
                  <a:schemeClr val="dk1"/>
                </a:highlight>
                <a:latin typeface="Arial"/>
                <a:ea typeface="Arial"/>
                <a:cs typeface="Arial"/>
                <a:sym typeface="Arial"/>
              </a:rPr>
              <a:t>data movement</a:t>
            </a:r>
            <a:r>
              <a:rPr lang="vi" sz="1400">
                <a:solidFill>
                  <a:srgbClr val="000000"/>
                </a:solidFill>
                <a:highlight>
                  <a:schemeClr val="dk1"/>
                </a:highlight>
                <a:latin typeface="Arial"/>
                <a:ea typeface="Arial"/>
                <a:cs typeface="Arial"/>
                <a:sym typeface="Arial"/>
              </a:rPr>
              <a:t> sẽ là </a:t>
            </a:r>
            <a:r>
              <a:rPr b="1" lang="vi" sz="1400">
                <a:solidFill>
                  <a:srgbClr val="000000"/>
                </a:solidFill>
                <a:highlight>
                  <a:schemeClr val="dk1"/>
                </a:highlight>
                <a:latin typeface="Arial"/>
                <a:ea typeface="Arial"/>
                <a:cs typeface="Arial"/>
                <a:sym typeface="Arial"/>
              </a:rPr>
              <a:t>Read (R)</a:t>
            </a:r>
            <a:r>
              <a:rPr lang="vi" sz="1400">
                <a:solidFill>
                  <a:srgbClr val="000000"/>
                </a:solidFill>
                <a:highlight>
                  <a:schemeClr val="dk1"/>
                </a:highlight>
                <a:latin typeface="Arial"/>
                <a:ea typeface="Arial"/>
                <a:cs typeface="Arial"/>
                <a:sym typeface="Arial"/>
              </a:rPr>
              <a:t>, hoặc </a:t>
            </a:r>
            <a:r>
              <a:rPr b="1" lang="vi" sz="1400">
                <a:solidFill>
                  <a:srgbClr val="000000"/>
                </a:solidFill>
                <a:highlight>
                  <a:schemeClr val="dk1"/>
                </a:highlight>
                <a:latin typeface="Arial"/>
                <a:ea typeface="Arial"/>
                <a:cs typeface="Arial"/>
                <a:sym typeface="Arial"/>
              </a:rPr>
              <a:t>Write (W)</a:t>
            </a:r>
            <a:r>
              <a:rPr lang="vi" sz="1400">
                <a:solidFill>
                  <a:srgbClr val="000000"/>
                </a:solidFill>
                <a:highlight>
                  <a:schemeClr val="dk1"/>
                </a:highlight>
                <a:latin typeface="Arial"/>
                <a:ea typeface="Arial"/>
                <a:cs typeface="Arial"/>
                <a:sym typeface="Arial"/>
              </a:rPr>
              <a:t>.</a:t>
            </a:r>
            <a:endParaRPr sz="14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rPr b="1" lang="vi" sz="1400">
                <a:solidFill>
                  <a:srgbClr val="000000"/>
                </a:solidFill>
                <a:highlight>
                  <a:schemeClr val="dk1"/>
                </a:highlight>
                <a:latin typeface="Arial"/>
                <a:ea typeface="Arial"/>
                <a:cs typeface="Arial"/>
                <a:sym typeface="Arial"/>
              </a:rPr>
              <a:t>InterR2</a:t>
            </a:r>
            <a:r>
              <a:rPr lang="vi" sz="1400">
                <a:solidFill>
                  <a:srgbClr val="000000"/>
                </a:solidFill>
                <a:highlight>
                  <a:schemeClr val="dk1"/>
                </a:highlight>
                <a:latin typeface="Arial"/>
                <a:ea typeface="Arial"/>
                <a:cs typeface="Arial"/>
                <a:sym typeface="Arial"/>
              </a:rPr>
              <a:t>: </a:t>
            </a:r>
            <a:r>
              <a:rPr lang="vi" sz="1400">
                <a:solidFill>
                  <a:srgbClr val="000000"/>
                </a:solidFill>
                <a:highlight>
                  <a:schemeClr val="dk1"/>
                </a:highlight>
                <a:latin typeface="Arial"/>
                <a:ea typeface="Arial"/>
                <a:cs typeface="Arial"/>
                <a:sym typeface="Arial"/>
              </a:rPr>
              <a:t>Nếu bên gửi thông điệp là </a:t>
            </a:r>
            <a:r>
              <a:rPr b="1" lang="vi" sz="1400">
                <a:solidFill>
                  <a:srgbClr val="000000"/>
                </a:solidFill>
                <a:highlight>
                  <a:schemeClr val="dk1"/>
                </a:highlight>
                <a:latin typeface="Arial"/>
                <a:ea typeface="Arial"/>
                <a:cs typeface="Arial"/>
                <a:sym typeface="Arial"/>
              </a:rPr>
              <a:t>object</a:t>
            </a:r>
            <a:r>
              <a:rPr lang="vi" sz="1400">
                <a:solidFill>
                  <a:srgbClr val="000000"/>
                </a:solidFill>
                <a:highlight>
                  <a:schemeClr val="dk1"/>
                </a:highlight>
                <a:latin typeface="Arial"/>
                <a:ea typeface="Arial"/>
                <a:cs typeface="Arial"/>
                <a:sym typeface="Arial"/>
              </a:rPr>
              <a:t>, bên nhận là 1 </a:t>
            </a:r>
            <a:r>
              <a:rPr b="1" lang="vi" sz="1400">
                <a:solidFill>
                  <a:srgbClr val="000000"/>
                </a:solidFill>
                <a:highlight>
                  <a:schemeClr val="dk1"/>
                </a:highlight>
                <a:latin typeface="Arial"/>
                <a:ea typeface="Arial"/>
                <a:cs typeface="Arial"/>
                <a:sym typeface="Arial"/>
              </a:rPr>
              <a:t>UI/physical device </a:t>
            </a:r>
            <a:r>
              <a:rPr lang="vi" sz="1400">
                <a:solidFill>
                  <a:srgbClr val="000000"/>
                </a:solidFill>
                <a:highlight>
                  <a:schemeClr val="dk1"/>
                </a:highlight>
                <a:latin typeface="Arial"/>
                <a:ea typeface="Arial"/>
                <a:cs typeface="Arial"/>
                <a:sym typeface="Arial"/>
              </a:rPr>
              <a:t>thì </a:t>
            </a:r>
            <a:r>
              <a:rPr b="1" lang="vi" sz="1400">
                <a:solidFill>
                  <a:srgbClr val="000000"/>
                </a:solidFill>
                <a:highlight>
                  <a:schemeClr val="dk1"/>
                </a:highlight>
                <a:latin typeface="Arial"/>
                <a:ea typeface="Arial"/>
                <a:cs typeface="Arial"/>
                <a:sym typeface="Arial"/>
              </a:rPr>
              <a:t>data movement</a:t>
            </a:r>
            <a:r>
              <a:rPr lang="vi" sz="1400">
                <a:solidFill>
                  <a:srgbClr val="000000"/>
                </a:solidFill>
                <a:highlight>
                  <a:schemeClr val="dk1"/>
                </a:highlight>
                <a:latin typeface="Arial"/>
                <a:ea typeface="Arial"/>
                <a:cs typeface="Arial"/>
                <a:sym typeface="Arial"/>
              </a:rPr>
              <a:t> được coi là 1 </a:t>
            </a:r>
            <a:r>
              <a:rPr b="1" lang="vi" sz="1400">
                <a:solidFill>
                  <a:srgbClr val="000000"/>
                </a:solidFill>
                <a:highlight>
                  <a:schemeClr val="dk1"/>
                </a:highlight>
                <a:latin typeface="Arial"/>
                <a:ea typeface="Arial"/>
                <a:cs typeface="Arial"/>
                <a:sym typeface="Arial"/>
              </a:rPr>
              <a:t>eXit (X)</a:t>
            </a:r>
            <a:r>
              <a:rPr lang="vi" sz="1400">
                <a:solidFill>
                  <a:srgbClr val="000000"/>
                </a:solidFill>
                <a:highlight>
                  <a:schemeClr val="dk1"/>
                </a:highlight>
                <a:latin typeface="Arial"/>
                <a:ea typeface="Arial"/>
                <a:cs typeface="Arial"/>
                <a:sym typeface="Arial"/>
              </a:rPr>
              <a:t>, ngoại trừ khi bên nhận bắt buộc phải gửi messages, </a:t>
            </a:r>
            <a:r>
              <a:rPr b="1" lang="vi" sz="1400">
                <a:solidFill>
                  <a:srgbClr val="000000"/>
                </a:solidFill>
                <a:highlight>
                  <a:schemeClr val="dk1"/>
                </a:highlight>
                <a:latin typeface="Arial"/>
                <a:ea typeface="Arial"/>
                <a:cs typeface="Arial"/>
                <a:sym typeface="Arial"/>
              </a:rPr>
              <a:t>data movement </a:t>
            </a:r>
            <a:r>
              <a:rPr lang="vi" sz="1400">
                <a:solidFill>
                  <a:srgbClr val="000000"/>
                </a:solidFill>
                <a:highlight>
                  <a:schemeClr val="dk1"/>
                </a:highlight>
                <a:latin typeface="Arial"/>
                <a:ea typeface="Arial"/>
                <a:cs typeface="Arial"/>
                <a:sym typeface="Arial"/>
              </a:rPr>
              <a:t>sẽ là </a:t>
            </a:r>
            <a:r>
              <a:rPr b="1" lang="vi" sz="1400">
                <a:solidFill>
                  <a:srgbClr val="000000"/>
                </a:solidFill>
                <a:highlight>
                  <a:schemeClr val="dk1"/>
                </a:highlight>
                <a:latin typeface="Arial"/>
                <a:ea typeface="Arial"/>
                <a:cs typeface="Arial"/>
                <a:sym typeface="Arial"/>
              </a:rPr>
              <a:t>Entry (E)</a:t>
            </a:r>
            <a:r>
              <a:rPr lang="vi" sz="1400">
                <a:solidFill>
                  <a:srgbClr val="000000"/>
                </a:solidFill>
                <a:highlight>
                  <a:schemeClr val="dk1"/>
                </a:highlight>
                <a:latin typeface="Arial"/>
                <a:ea typeface="Arial"/>
                <a:cs typeface="Arial"/>
                <a:sym typeface="Arial"/>
              </a:rPr>
              <a:t>.</a:t>
            </a:r>
            <a:endParaRPr sz="14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t/>
            </a:r>
            <a:endParaRPr sz="1400">
              <a:solidFill>
                <a:srgbClr val="000000"/>
              </a:solidFill>
              <a:highlight>
                <a:schemeClr val="dk1"/>
              </a:highlight>
              <a:latin typeface="Arial"/>
              <a:ea typeface="Arial"/>
              <a:cs typeface="Arial"/>
              <a:sym typeface="Arial"/>
            </a:endParaRPr>
          </a:p>
          <a:p>
            <a:pPr indent="0" lvl="0" marL="0" rtl="0" algn="l">
              <a:spcBef>
                <a:spcPts val="1200"/>
              </a:spcBef>
              <a:spcAft>
                <a:spcPts val="1200"/>
              </a:spcAft>
              <a:buNone/>
            </a:pPr>
            <a:r>
              <a:t/>
            </a:r>
            <a:endParaRPr sz="1400">
              <a:highlight>
                <a:schemeClr val="dk1"/>
              </a:highlight>
            </a:endParaRPr>
          </a:p>
        </p:txBody>
      </p:sp>
      <p:pic>
        <p:nvPicPr>
          <p:cNvPr id="204" name="Google Shape;204;p25"/>
          <p:cNvPicPr preferRelativeResize="0"/>
          <p:nvPr/>
        </p:nvPicPr>
        <p:blipFill>
          <a:blip r:embed="rId3">
            <a:alphaModFix/>
          </a:blip>
          <a:stretch>
            <a:fillRect/>
          </a:stretch>
        </p:blipFill>
        <p:spPr>
          <a:xfrm>
            <a:off x="4908775" y="1262700"/>
            <a:ext cx="3335774" cy="2080975"/>
          </a:xfrm>
          <a:prstGeom prst="rect">
            <a:avLst/>
          </a:prstGeom>
          <a:noFill/>
          <a:ln>
            <a:noFill/>
          </a:ln>
        </p:spPr>
      </p:pic>
      <p:sp>
        <p:nvSpPr>
          <p:cNvPr id="205" name="Google Shape;205;p25"/>
          <p:cNvSpPr txBox="1"/>
          <p:nvPr>
            <p:ph type="title"/>
          </p:nvPr>
        </p:nvSpPr>
        <p:spPr>
          <a:xfrm>
            <a:off x="398200" y="411025"/>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Phương pháp thực hiện</a:t>
            </a:r>
            <a:endParaRPr>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idx="1" type="body"/>
          </p:nvPr>
        </p:nvSpPr>
        <p:spPr>
          <a:xfrm>
            <a:off x="420950" y="1078675"/>
            <a:ext cx="8484900" cy="37623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vi" sz="1800">
                <a:solidFill>
                  <a:srgbClr val="000000"/>
                </a:solidFill>
                <a:highlight>
                  <a:schemeClr val="dk1"/>
                </a:highlight>
                <a:latin typeface="Arial"/>
                <a:ea typeface="Arial"/>
                <a:cs typeface="Arial"/>
                <a:sym typeface="Arial"/>
              </a:rPr>
              <a:t>3. </a:t>
            </a:r>
            <a:r>
              <a:rPr lang="vi" sz="1800">
                <a:solidFill>
                  <a:srgbClr val="000000"/>
                </a:solidFill>
                <a:highlight>
                  <a:schemeClr val="dk1"/>
                </a:highlight>
                <a:latin typeface="Arial"/>
                <a:ea typeface="Arial"/>
                <a:cs typeface="Arial"/>
                <a:sym typeface="Arial"/>
              </a:rPr>
              <a:t>Xác định kích cỡ Sequence Diagram theo đơn vị CFP (COSMIC Function Point).</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rPr b="1" lang="vi">
                <a:solidFill>
                  <a:srgbClr val="000000"/>
                </a:solidFill>
                <a:highlight>
                  <a:schemeClr val="dk1"/>
                </a:highlight>
                <a:latin typeface="Arial"/>
                <a:ea typeface="Arial"/>
                <a:cs typeface="Arial"/>
                <a:sym typeface="Arial"/>
              </a:rPr>
              <a:t>COSMIC functional size (FS)</a:t>
            </a:r>
            <a:r>
              <a:rPr lang="vi">
                <a:solidFill>
                  <a:srgbClr val="000000"/>
                </a:solidFill>
                <a:highlight>
                  <a:schemeClr val="dk1"/>
                </a:highlight>
                <a:latin typeface="Arial"/>
                <a:ea typeface="Arial"/>
                <a:cs typeface="Arial"/>
                <a:sym typeface="Arial"/>
              </a:rPr>
              <a:t> của 1 </a:t>
            </a:r>
            <a:r>
              <a:rPr b="1" lang="vi">
                <a:solidFill>
                  <a:srgbClr val="000000"/>
                </a:solidFill>
                <a:highlight>
                  <a:schemeClr val="dk1"/>
                </a:highlight>
                <a:latin typeface="Arial"/>
                <a:ea typeface="Arial"/>
                <a:cs typeface="Arial"/>
                <a:sym typeface="Arial"/>
              </a:rPr>
              <a:t>Sequence Diagram (Sq)</a:t>
            </a:r>
            <a:r>
              <a:rPr lang="vi">
                <a:solidFill>
                  <a:srgbClr val="000000"/>
                </a:solidFill>
                <a:highlight>
                  <a:schemeClr val="dk1"/>
                </a:highlight>
                <a:latin typeface="Arial"/>
                <a:ea typeface="Arial"/>
                <a:cs typeface="Arial"/>
                <a:sym typeface="Arial"/>
              </a:rPr>
              <a:t> được xác định bằng cách cộng tất cả số các </a:t>
            </a:r>
            <a:r>
              <a:rPr b="1" lang="vi">
                <a:solidFill>
                  <a:srgbClr val="000000"/>
                </a:solidFill>
                <a:highlight>
                  <a:schemeClr val="dk1"/>
                </a:highlight>
                <a:latin typeface="Arial"/>
                <a:ea typeface="Arial"/>
                <a:cs typeface="Arial"/>
                <a:sym typeface="Arial"/>
              </a:rPr>
              <a:t>data movement</a:t>
            </a:r>
            <a:r>
              <a:rPr lang="vi">
                <a:solidFill>
                  <a:srgbClr val="000000"/>
                </a:solidFill>
                <a:highlight>
                  <a:schemeClr val="dk1"/>
                </a:highlight>
                <a:latin typeface="Arial"/>
                <a:ea typeface="Arial"/>
                <a:cs typeface="Arial"/>
                <a:sym typeface="Arial"/>
              </a:rPr>
              <a:t> riêng lẻ của </a:t>
            </a:r>
            <a:r>
              <a:rPr b="1" lang="vi">
                <a:solidFill>
                  <a:srgbClr val="000000"/>
                </a:solidFill>
                <a:highlight>
                  <a:schemeClr val="dk1"/>
                </a:highlight>
                <a:latin typeface="Arial"/>
                <a:ea typeface="Arial"/>
                <a:cs typeface="Arial"/>
                <a:sym typeface="Arial"/>
              </a:rPr>
              <a:t>diagram</a:t>
            </a:r>
            <a:r>
              <a:rPr lang="vi">
                <a:solidFill>
                  <a:srgbClr val="000000"/>
                </a:solidFill>
                <a:highlight>
                  <a:schemeClr val="dk1"/>
                </a:highlight>
                <a:latin typeface="Arial"/>
                <a:ea typeface="Arial"/>
                <a:cs typeface="Arial"/>
                <a:sym typeface="Arial"/>
              </a:rPr>
              <a:t> đó. Giá trị của 1 </a:t>
            </a:r>
            <a:r>
              <a:rPr b="1" lang="vi">
                <a:solidFill>
                  <a:srgbClr val="000000"/>
                </a:solidFill>
                <a:highlight>
                  <a:schemeClr val="dk1"/>
                </a:highlight>
                <a:latin typeface="Arial"/>
                <a:ea typeface="Arial"/>
                <a:cs typeface="Arial"/>
                <a:sym typeface="Arial"/>
              </a:rPr>
              <a:t>CFP</a:t>
            </a:r>
            <a:r>
              <a:rPr lang="vi">
                <a:solidFill>
                  <a:srgbClr val="000000"/>
                </a:solidFill>
                <a:highlight>
                  <a:schemeClr val="dk1"/>
                </a:highlight>
                <a:latin typeface="Arial"/>
                <a:ea typeface="Arial"/>
                <a:cs typeface="Arial"/>
                <a:sym typeface="Arial"/>
              </a:rPr>
              <a:t> tương đương với mỗi </a:t>
            </a:r>
            <a:r>
              <a:rPr b="1" lang="vi">
                <a:solidFill>
                  <a:srgbClr val="000000"/>
                </a:solidFill>
                <a:highlight>
                  <a:schemeClr val="dk1"/>
                </a:highlight>
                <a:latin typeface="Arial"/>
                <a:ea typeface="Arial"/>
                <a:cs typeface="Arial"/>
                <a:sym typeface="Arial"/>
              </a:rPr>
              <a:t>data movement.</a:t>
            </a:r>
            <a:br>
              <a:rPr lang="vi" sz="1800">
                <a:solidFill>
                  <a:srgbClr val="000000"/>
                </a:solidFill>
                <a:highlight>
                  <a:schemeClr val="dk1"/>
                </a:highlight>
                <a:latin typeface="Arial"/>
                <a:ea typeface="Arial"/>
                <a:cs typeface="Arial"/>
                <a:sym typeface="Arial"/>
              </a:rPr>
            </a:br>
            <a:endParaRPr sz="12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rPr lang="vi">
                <a:highlight>
                  <a:schemeClr val="dk1"/>
                </a:highlight>
                <a:latin typeface="Arial"/>
                <a:ea typeface="Arial"/>
                <a:cs typeface="Arial"/>
                <a:sym typeface="Arial"/>
              </a:rPr>
              <a:t>Trong đó, </a:t>
            </a:r>
            <a:r>
              <a:rPr i="1" lang="vi">
                <a:highlight>
                  <a:schemeClr val="dk1"/>
                </a:highlight>
                <a:latin typeface="Arial"/>
                <a:ea typeface="Arial"/>
                <a:cs typeface="Arial"/>
                <a:sym typeface="Arial"/>
              </a:rPr>
              <a:t>n</a:t>
            </a:r>
            <a:r>
              <a:rPr lang="vi">
                <a:highlight>
                  <a:schemeClr val="dk1"/>
                </a:highlight>
                <a:latin typeface="Arial"/>
                <a:ea typeface="Arial"/>
                <a:cs typeface="Arial"/>
                <a:sym typeface="Arial"/>
              </a:rPr>
              <a:t> là số messages </a:t>
            </a:r>
            <a:r>
              <a:rPr i="1" lang="vi">
                <a:solidFill>
                  <a:srgbClr val="000000"/>
                </a:solidFill>
                <a:latin typeface="Arial"/>
                <a:ea typeface="Arial"/>
                <a:cs typeface="Arial"/>
                <a:sym typeface="Arial"/>
              </a:rPr>
              <a:t>m</a:t>
            </a:r>
            <a:r>
              <a:rPr baseline="-25000" i="1" lang="vi">
                <a:solidFill>
                  <a:srgbClr val="000000"/>
                </a:solidFill>
                <a:latin typeface="Arial"/>
                <a:ea typeface="Arial"/>
                <a:cs typeface="Arial"/>
                <a:sym typeface="Arial"/>
              </a:rPr>
              <a:t>i</a:t>
            </a:r>
            <a:r>
              <a:rPr lang="vi">
                <a:solidFill>
                  <a:srgbClr val="000000"/>
                </a:solidFill>
                <a:latin typeface="Arial"/>
                <a:ea typeface="Arial"/>
                <a:cs typeface="Arial"/>
                <a:sym typeface="Arial"/>
              </a:rPr>
              <a:t> của </a:t>
            </a:r>
            <a:r>
              <a:rPr i="1" lang="vi">
                <a:solidFill>
                  <a:srgbClr val="000000"/>
                </a:solidFill>
                <a:latin typeface="Arial"/>
                <a:ea typeface="Arial"/>
                <a:cs typeface="Arial"/>
                <a:sym typeface="Arial"/>
              </a:rPr>
              <a:t>Sq,</a:t>
            </a:r>
            <a:r>
              <a:rPr lang="vi">
                <a:solidFill>
                  <a:srgbClr val="000000"/>
                </a:solidFill>
                <a:latin typeface="Arial"/>
                <a:ea typeface="Arial"/>
                <a:cs typeface="Arial"/>
                <a:sym typeface="Arial"/>
              </a:rPr>
              <a:t> </a:t>
            </a:r>
            <a:br>
              <a:rPr lang="vi">
                <a:solidFill>
                  <a:srgbClr val="000000"/>
                </a:solidFill>
                <a:latin typeface="Arial"/>
                <a:ea typeface="Arial"/>
                <a:cs typeface="Arial"/>
                <a:sym typeface="Arial"/>
              </a:rPr>
            </a:br>
            <a:r>
              <a:rPr i="1" lang="vi">
                <a:solidFill>
                  <a:srgbClr val="000000"/>
                </a:solidFill>
                <a:latin typeface="Arial"/>
                <a:ea typeface="Arial"/>
                <a:cs typeface="Arial"/>
                <a:sym typeface="Arial"/>
              </a:rPr>
              <a:t>FS(m</a:t>
            </a:r>
            <a:r>
              <a:rPr baseline="-25000" i="1" lang="vi">
                <a:solidFill>
                  <a:srgbClr val="000000"/>
                </a:solidFill>
                <a:latin typeface="Arial"/>
                <a:ea typeface="Arial"/>
                <a:cs typeface="Arial"/>
                <a:sym typeface="Arial"/>
              </a:rPr>
              <a:t>i</a:t>
            </a:r>
            <a:r>
              <a:rPr i="1" lang="vi">
                <a:solidFill>
                  <a:srgbClr val="000000"/>
                </a:solidFill>
                <a:latin typeface="Arial"/>
                <a:ea typeface="Arial"/>
                <a:cs typeface="Arial"/>
                <a:sym typeface="Arial"/>
              </a:rPr>
              <a:t>)</a:t>
            </a:r>
            <a:r>
              <a:rPr lang="vi">
                <a:solidFill>
                  <a:srgbClr val="000000"/>
                </a:solidFill>
                <a:latin typeface="Arial"/>
                <a:ea typeface="Arial"/>
                <a:cs typeface="Arial"/>
                <a:sym typeface="Arial"/>
              </a:rPr>
              <a:t> tương đương với giá trị </a:t>
            </a:r>
            <a:r>
              <a:rPr i="1" lang="vi">
                <a:solidFill>
                  <a:srgbClr val="000000"/>
                </a:solidFill>
                <a:latin typeface="Arial"/>
                <a:ea typeface="Arial"/>
                <a:cs typeface="Arial"/>
                <a:sym typeface="Arial"/>
              </a:rPr>
              <a:t>CFP.</a:t>
            </a:r>
            <a:endParaRPr i="1">
              <a:solidFill>
                <a:srgbClr val="000000"/>
              </a:solidFill>
              <a:latin typeface="Arial"/>
              <a:ea typeface="Arial"/>
              <a:cs typeface="Arial"/>
              <a:sym typeface="Arial"/>
            </a:endParaRPr>
          </a:p>
          <a:p>
            <a:pPr indent="0" lvl="0" marL="0" rtl="0" algn="l">
              <a:spcBef>
                <a:spcPts val="1200"/>
              </a:spcBef>
              <a:spcAft>
                <a:spcPts val="0"/>
              </a:spcAft>
              <a:buNone/>
            </a:pPr>
            <a:r>
              <a:t/>
            </a:r>
            <a:endParaRPr i="1">
              <a:solidFill>
                <a:srgbClr val="000000"/>
              </a:solidFill>
              <a:latin typeface="Arial"/>
              <a:ea typeface="Arial"/>
              <a:cs typeface="Arial"/>
              <a:sym typeface="Arial"/>
            </a:endParaRPr>
          </a:p>
          <a:p>
            <a:pPr indent="0" lvl="0" marL="0" rtl="0" algn="l">
              <a:spcBef>
                <a:spcPts val="1200"/>
              </a:spcBef>
              <a:spcAft>
                <a:spcPts val="1200"/>
              </a:spcAft>
              <a:buNone/>
            </a:pPr>
            <a:r>
              <a:rPr lang="vi" sz="1800">
                <a:highlight>
                  <a:schemeClr val="dk1"/>
                </a:highlight>
              </a:rPr>
              <a:t> </a:t>
            </a:r>
            <a:endParaRPr sz="1800">
              <a:highlight>
                <a:schemeClr val="dk1"/>
              </a:highlight>
            </a:endParaRPr>
          </a:p>
        </p:txBody>
      </p:sp>
      <p:pic>
        <p:nvPicPr>
          <p:cNvPr id="211" name="Google Shape;211;p26"/>
          <p:cNvPicPr preferRelativeResize="0"/>
          <p:nvPr/>
        </p:nvPicPr>
        <p:blipFill>
          <a:blip r:embed="rId3">
            <a:alphaModFix/>
          </a:blip>
          <a:stretch>
            <a:fillRect/>
          </a:stretch>
        </p:blipFill>
        <p:spPr>
          <a:xfrm>
            <a:off x="3446550" y="2654500"/>
            <a:ext cx="5393525" cy="2133850"/>
          </a:xfrm>
          <a:prstGeom prst="rect">
            <a:avLst/>
          </a:prstGeom>
          <a:noFill/>
          <a:ln>
            <a:noFill/>
          </a:ln>
        </p:spPr>
      </p:pic>
      <p:pic>
        <p:nvPicPr>
          <p:cNvPr id="212" name="Google Shape;212;p26"/>
          <p:cNvPicPr preferRelativeResize="0"/>
          <p:nvPr/>
        </p:nvPicPr>
        <p:blipFill>
          <a:blip r:embed="rId4">
            <a:alphaModFix/>
          </a:blip>
          <a:stretch>
            <a:fillRect/>
          </a:stretch>
        </p:blipFill>
        <p:spPr>
          <a:xfrm>
            <a:off x="683674" y="2422324"/>
            <a:ext cx="2454881" cy="636125"/>
          </a:xfrm>
          <a:prstGeom prst="rect">
            <a:avLst/>
          </a:prstGeom>
          <a:noFill/>
          <a:ln>
            <a:noFill/>
          </a:ln>
        </p:spPr>
      </p:pic>
      <p:sp>
        <p:nvSpPr>
          <p:cNvPr id="213" name="Google Shape;213;p26"/>
          <p:cNvSpPr txBox="1"/>
          <p:nvPr>
            <p:ph type="title"/>
          </p:nvPr>
        </p:nvSpPr>
        <p:spPr>
          <a:xfrm>
            <a:off x="398200" y="490400"/>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Phương pháp thực hiện</a:t>
            </a:r>
            <a:endParaRPr>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body"/>
          </p:nvPr>
        </p:nvSpPr>
        <p:spPr>
          <a:xfrm>
            <a:off x="475800" y="1301825"/>
            <a:ext cx="7849200" cy="3136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vi" sz="1900">
                <a:solidFill>
                  <a:srgbClr val="000000"/>
                </a:solidFill>
                <a:highlight>
                  <a:schemeClr val="dk1"/>
                </a:highlight>
                <a:latin typeface="Arial"/>
                <a:ea typeface="Arial"/>
                <a:cs typeface="Arial"/>
                <a:sym typeface="Arial"/>
              </a:rPr>
              <a:t>II. </a:t>
            </a:r>
            <a:r>
              <a:rPr lang="vi" sz="1900">
                <a:solidFill>
                  <a:srgbClr val="000000"/>
                </a:solidFill>
                <a:highlight>
                  <a:schemeClr val="dk1"/>
                </a:highlight>
                <a:latin typeface="Arial"/>
                <a:ea typeface="Arial"/>
                <a:cs typeface="Arial"/>
                <a:sym typeface="Arial"/>
              </a:rPr>
              <a:t>Đo kích thước cấu trúc của Sequence Diagram ở mức độ chi tiết </a:t>
            </a:r>
            <a:r>
              <a:rPr lang="vi" sz="1900">
                <a:solidFill>
                  <a:srgbClr val="000000"/>
                </a:solidFill>
                <a:highlight>
                  <a:schemeClr val="dk1"/>
                </a:highlight>
                <a:latin typeface="Arial"/>
                <a:ea typeface="Arial"/>
                <a:cs typeface="Arial"/>
                <a:sym typeface="Arial"/>
              </a:rPr>
              <a:t>tốt </a:t>
            </a:r>
            <a:r>
              <a:rPr lang="vi" sz="1900">
                <a:solidFill>
                  <a:srgbClr val="000000"/>
                </a:solidFill>
                <a:highlight>
                  <a:schemeClr val="dk1"/>
                </a:highlight>
                <a:latin typeface="Arial"/>
                <a:ea typeface="Arial"/>
                <a:cs typeface="Arial"/>
                <a:sym typeface="Arial"/>
              </a:rPr>
              <a:t>(at a fine level of granularity)</a:t>
            </a:r>
            <a:endParaRPr sz="19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rPr lang="vi" sz="1800">
                <a:solidFill>
                  <a:srgbClr val="000000"/>
                </a:solidFill>
                <a:highlight>
                  <a:schemeClr val="dk1"/>
                </a:highlight>
                <a:latin typeface="Arial"/>
                <a:ea typeface="Arial"/>
                <a:cs typeface="Arial"/>
                <a:sym typeface="Arial"/>
              </a:rPr>
              <a:t>a. </a:t>
            </a:r>
            <a:r>
              <a:rPr lang="vi" sz="1800">
                <a:solidFill>
                  <a:srgbClr val="000000"/>
                </a:solidFill>
                <a:highlight>
                  <a:schemeClr val="dk1"/>
                </a:highlight>
                <a:latin typeface="Arial"/>
                <a:ea typeface="Arial"/>
                <a:cs typeface="Arial"/>
                <a:sym typeface="Arial"/>
              </a:rPr>
              <a:t>Thiết kế chung về kích thước cấu trúc của Sequence Diagram. </a:t>
            </a:r>
            <a:endParaRPr sz="1800">
              <a:solidFill>
                <a:srgbClr val="000000"/>
              </a:solidFill>
              <a:highlight>
                <a:schemeClr val="dk1"/>
              </a:highlight>
              <a:latin typeface="Arial"/>
              <a:ea typeface="Arial"/>
              <a:cs typeface="Arial"/>
              <a:sym typeface="Arial"/>
            </a:endParaRPr>
          </a:p>
          <a:p>
            <a:pPr indent="-336550" lvl="0" marL="457200" rtl="0" algn="l">
              <a:spcBef>
                <a:spcPts val="1200"/>
              </a:spcBef>
              <a:spcAft>
                <a:spcPts val="0"/>
              </a:spcAft>
              <a:buClr>
                <a:srgbClr val="000000"/>
              </a:buClr>
              <a:buSzPts val="1700"/>
              <a:buFont typeface="Arial"/>
              <a:buAutoNum type="arabicPeriod"/>
            </a:pPr>
            <a:r>
              <a:rPr lang="vi" sz="1700">
                <a:solidFill>
                  <a:srgbClr val="000000"/>
                </a:solidFill>
                <a:highlight>
                  <a:schemeClr val="dk1"/>
                </a:highlight>
                <a:latin typeface="Arial"/>
                <a:ea typeface="Arial"/>
                <a:cs typeface="Arial"/>
                <a:sym typeface="Arial"/>
              </a:rPr>
              <a:t>Xác định mục tiêu đo lường</a:t>
            </a:r>
            <a:endParaRPr sz="1700">
              <a:solidFill>
                <a:srgbClr val="000000"/>
              </a:solidFill>
              <a:highlight>
                <a:schemeClr val="dk1"/>
              </a:highlight>
              <a:latin typeface="Arial"/>
              <a:ea typeface="Arial"/>
              <a:cs typeface="Arial"/>
              <a:sym typeface="Arial"/>
            </a:endParaRPr>
          </a:p>
          <a:p>
            <a:pPr indent="-336550" lvl="0" marL="457200" rtl="0" algn="l">
              <a:spcBef>
                <a:spcPts val="0"/>
              </a:spcBef>
              <a:spcAft>
                <a:spcPts val="0"/>
              </a:spcAft>
              <a:buClr>
                <a:srgbClr val="000000"/>
              </a:buClr>
              <a:buSzPts val="1700"/>
              <a:buFont typeface="Arial"/>
              <a:buAutoNum type="arabicPeriod"/>
            </a:pPr>
            <a:r>
              <a:rPr lang="vi" sz="1700">
                <a:solidFill>
                  <a:srgbClr val="000000"/>
                </a:solidFill>
                <a:highlight>
                  <a:schemeClr val="dk1"/>
                </a:highlight>
                <a:latin typeface="Arial"/>
                <a:ea typeface="Arial"/>
                <a:cs typeface="Arial"/>
                <a:sym typeface="Arial"/>
              </a:rPr>
              <a:t>Đặc điểm của khái niệm được đo lường </a:t>
            </a:r>
            <a:endParaRPr sz="1700">
              <a:solidFill>
                <a:srgbClr val="000000"/>
              </a:solidFill>
              <a:highlight>
                <a:schemeClr val="dk1"/>
              </a:highlight>
              <a:latin typeface="Arial"/>
              <a:ea typeface="Arial"/>
              <a:cs typeface="Arial"/>
              <a:sym typeface="Arial"/>
            </a:endParaRPr>
          </a:p>
          <a:p>
            <a:pPr indent="-336550" lvl="0" marL="457200" rtl="0" algn="l">
              <a:spcBef>
                <a:spcPts val="0"/>
              </a:spcBef>
              <a:spcAft>
                <a:spcPts val="0"/>
              </a:spcAft>
              <a:buClr>
                <a:srgbClr val="000000"/>
              </a:buClr>
              <a:buSzPts val="1700"/>
              <a:buFont typeface="Arial"/>
              <a:buAutoNum type="arabicPeriod"/>
            </a:pPr>
            <a:r>
              <a:rPr lang="vi" sz="1700">
                <a:solidFill>
                  <a:srgbClr val="000000"/>
                </a:solidFill>
                <a:highlight>
                  <a:schemeClr val="dk1"/>
                </a:highlight>
                <a:latin typeface="Arial"/>
                <a:ea typeface="Arial"/>
                <a:cs typeface="Arial"/>
                <a:sym typeface="Arial"/>
              </a:rPr>
              <a:t>Thiết kế meta-model</a:t>
            </a:r>
            <a:endParaRPr sz="1700">
              <a:solidFill>
                <a:srgbClr val="000000"/>
              </a:solidFill>
              <a:highlight>
                <a:schemeClr val="dk1"/>
              </a:highlight>
              <a:latin typeface="Arial"/>
              <a:ea typeface="Arial"/>
              <a:cs typeface="Arial"/>
              <a:sym typeface="Arial"/>
            </a:endParaRPr>
          </a:p>
          <a:p>
            <a:pPr indent="-336550" lvl="0" marL="457200" rtl="0" algn="l">
              <a:spcBef>
                <a:spcPts val="0"/>
              </a:spcBef>
              <a:spcAft>
                <a:spcPts val="0"/>
              </a:spcAft>
              <a:buClr>
                <a:srgbClr val="000000"/>
              </a:buClr>
              <a:buSzPts val="1700"/>
              <a:buFont typeface="Arial"/>
              <a:buAutoNum type="arabicPeriod"/>
            </a:pPr>
            <a:r>
              <a:rPr lang="vi" sz="1700">
                <a:solidFill>
                  <a:srgbClr val="000000"/>
                </a:solidFill>
                <a:highlight>
                  <a:schemeClr val="dk1"/>
                </a:highlight>
                <a:latin typeface="Arial"/>
                <a:ea typeface="Arial"/>
                <a:cs typeface="Arial"/>
                <a:sym typeface="Arial"/>
              </a:rPr>
              <a:t>Định nghĩa các quy tắc gán số </a:t>
            </a:r>
            <a:endParaRPr sz="1800">
              <a:highlight>
                <a:schemeClr val="dk1"/>
              </a:highlight>
            </a:endParaRPr>
          </a:p>
        </p:txBody>
      </p:sp>
      <p:sp>
        <p:nvSpPr>
          <p:cNvPr id="219" name="Google Shape;219;p27"/>
          <p:cNvSpPr txBox="1"/>
          <p:nvPr>
            <p:ph type="title"/>
          </p:nvPr>
        </p:nvSpPr>
        <p:spPr>
          <a:xfrm>
            <a:off x="398200" y="490400"/>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Phương pháp thực hiện</a:t>
            </a:r>
            <a:endParaRPr>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ph idx="1" type="body"/>
          </p:nvPr>
        </p:nvSpPr>
        <p:spPr>
          <a:xfrm>
            <a:off x="475800" y="1301825"/>
            <a:ext cx="7849200" cy="3136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vi" sz="1800">
                <a:solidFill>
                  <a:srgbClr val="000000"/>
                </a:solidFill>
                <a:highlight>
                  <a:schemeClr val="dk1"/>
                </a:highlight>
                <a:latin typeface="Arial"/>
                <a:ea typeface="Arial"/>
                <a:cs typeface="Arial"/>
                <a:sym typeface="Arial"/>
              </a:rPr>
              <a:t>1. </a:t>
            </a:r>
            <a:r>
              <a:rPr lang="vi" sz="1700">
                <a:solidFill>
                  <a:srgbClr val="000000"/>
                </a:solidFill>
                <a:highlight>
                  <a:schemeClr val="dk1"/>
                </a:highlight>
                <a:latin typeface="Arial"/>
                <a:ea typeface="Arial"/>
                <a:cs typeface="Arial"/>
                <a:sym typeface="Arial"/>
              </a:rPr>
              <a:t>Xác định mục tiêu đo lường</a:t>
            </a:r>
            <a:endParaRPr sz="1700">
              <a:solidFill>
                <a:srgbClr val="000000"/>
              </a:solidFill>
              <a:highlight>
                <a:schemeClr val="dk1"/>
              </a:highlight>
              <a:latin typeface="Arial"/>
              <a:ea typeface="Arial"/>
              <a:cs typeface="Arial"/>
              <a:sym typeface="Arial"/>
            </a:endParaRPr>
          </a:p>
          <a:p>
            <a:pPr indent="-330200" lvl="0" marL="457200" rtl="0" algn="l">
              <a:spcBef>
                <a:spcPts val="1200"/>
              </a:spcBef>
              <a:spcAft>
                <a:spcPts val="0"/>
              </a:spcAft>
              <a:buClr>
                <a:srgbClr val="000000"/>
              </a:buClr>
              <a:buSzPts val="1600"/>
              <a:buFont typeface="Arial"/>
              <a:buChar char="❖"/>
            </a:pPr>
            <a:r>
              <a:rPr lang="vi" sz="1600">
                <a:solidFill>
                  <a:srgbClr val="000000"/>
                </a:solidFill>
                <a:highlight>
                  <a:schemeClr val="dk1"/>
                </a:highlight>
                <a:latin typeface="Arial"/>
                <a:ea typeface="Arial"/>
                <a:cs typeface="Arial"/>
                <a:sym typeface="Arial"/>
              </a:rPr>
              <a:t>Trả lời được các câu hỏi: </a:t>
            </a:r>
            <a:endParaRPr sz="1600">
              <a:solidFill>
                <a:srgbClr val="000000"/>
              </a:solidFill>
              <a:highlight>
                <a:schemeClr val="dk1"/>
              </a:highlight>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vi" sz="1600">
                <a:solidFill>
                  <a:srgbClr val="000000"/>
                </a:solidFill>
                <a:highlight>
                  <a:schemeClr val="dk1"/>
                </a:highlight>
                <a:latin typeface="Arial"/>
                <a:ea typeface="Arial"/>
                <a:cs typeface="Arial"/>
                <a:sym typeface="Arial"/>
              </a:rPr>
              <a:t>Cái gì được đo? ‘‘structural size’’ của Sequence Diagram</a:t>
            </a:r>
            <a:endParaRPr sz="1600">
              <a:solidFill>
                <a:srgbClr val="000000"/>
              </a:solidFill>
              <a:highlight>
                <a:schemeClr val="dk1"/>
              </a:highlight>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vi" sz="1600">
                <a:solidFill>
                  <a:srgbClr val="000000"/>
                </a:solidFill>
                <a:highlight>
                  <a:schemeClr val="dk1"/>
                </a:highlight>
                <a:latin typeface="Arial"/>
                <a:ea typeface="Arial"/>
                <a:cs typeface="Arial"/>
                <a:sym typeface="Arial"/>
              </a:rPr>
              <a:t>Thuộc tính được đo và thực thể tương ứng? Kích thước của ‘‘control structure’’ của Sequence Diagram</a:t>
            </a:r>
            <a:endParaRPr sz="1600">
              <a:solidFill>
                <a:srgbClr val="000000"/>
              </a:solidFill>
              <a:highlight>
                <a:schemeClr val="dk1"/>
              </a:highlight>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vi" sz="1600">
                <a:solidFill>
                  <a:srgbClr val="000000"/>
                </a:solidFill>
                <a:highlight>
                  <a:schemeClr val="dk1"/>
                </a:highlight>
                <a:latin typeface="Arial"/>
                <a:ea typeface="Arial"/>
                <a:cs typeface="Arial"/>
                <a:sym typeface="Arial"/>
              </a:rPr>
              <a:t>Quan điểm của phép đo? Quan điểm là của các developers.</a:t>
            </a:r>
            <a:endParaRPr sz="1600">
              <a:solidFill>
                <a:srgbClr val="000000"/>
              </a:solidFill>
              <a:highlight>
                <a:schemeClr val="dk1"/>
              </a:highlight>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vi" sz="1600">
                <a:solidFill>
                  <a:srgbClr val="000000"/>
                </a:solidFill>
                <a:highlight>
                  <a:schemeClr val="dk1"/>
                </a:highlight>
                <a:latin typeface="Arial"/>
                <a:ea typeface="Arial"/>
                <a:cs typeface="Arial"/>
                <a:sym typeface="Arial"/>
              </a:rPr>
              <a:t>Mục đích sử dụng kết quả đo? Quản lý và ước tính nỗ lực trong các dự án phần mềm.</a:t>
            </a:r>
            <a:endParaRPr sz="1800">
              <a:highlight>
                <a:schemeClr val="dk1"/>
              </a:highlight>
            </a:endParaRPr>
          </a:p>
        </p:txBody>
      </p:sp>
      <p:sp>
        <p:nvSpPr>
          <p:cNvPr id="225" name="Google Shape;225;p28"/>
          <p:cNvSpPr txBox="1"/>
          <p:nvPr>
            <p:ph type="title"/>
          </p:nvPr>
        </p:nvSpPr>
        <p:spPr>
          <a:xfrm>
            <a:off x="398200" y="490400"/>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Phương pháp thực hiện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idx="1" type="body"/>
          </p:nvPr>
        </p:nvSpPr>
        <p:spPr>
          <a:xfrm>
            <a:off x="475800" y="1301825"/>
            <a:ext cx="7849200" cy="3136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vi" sz="1700">
                <a:solidFill>
                  <a:srgbClr val="000000"/>
                </a:solidFill>
                <a:highlight>
                  <a:schemeClr val="dk1"/>
                </a:highlight>
                <a:latin typeface="Arial"/>
                <a:ea typeface="Arial"/>
                <a:cs typeface="Arial"/>
                <a:sym typeface="Arial"/>
              </a:rPr>
              <a:t>2. </a:t>
            </a:r>
            <a:r>
              <a:rPr lang="vi" sz="1700">
                <a:solidFill>
                  <a:srgbClr val="000000"/>
                </a:solidFill>
                <a:highlight>
                  <a:schemeClr val="dk1"/>
                </a:highlight>
                <a:latin typeface="Arial"/>
                <a:ea typeface="Arial"/>
                <a:cs typeface="Arial"/>
                <a:sym typeface="Arial"/>
              </a:rPr>
              <a:t>Đặc điểm của khái niệm được đo lường</a:t>
            </a:r>
            <a:endParaRPr sz="17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rPr lang="vi" sz="1600">
                <a:solidFill>
                  <a:srgbClr val="000000"/>
                </a:solidFill>
                <a:highlight>
                  <a:schemeClr val="dk1"/>
                </a:highlight>
                <a:latin typeface="Arial"/>
                <a:ea typeface="Arial"/>
                <a:cs typeface="Arial"/>
                <a:sym typeface="Arial"/>
              </a:rPr>
              <a:t>Khái niệm về kích thước cấu trúc được coi là khái niệm chung, cơ bản về thao tác tuần tự trong Sequence Diagram và có thể chia thành nhiều cấp độ như</a:t>
            </a:r>
            <a:r>
              <a:rPr lang="vi" sz="1600">
                <a:solidFill>
                  <a:srgbClr val="000000"/>
                </a:solidFill>
                <a:highlight>
                  <a:schemeClr val="dk1"/>
                </a:highlight>
                <a:latin typeface="Arial"/>
                <a:ea typeface="Arial"/>
                <a:cs typeface="Arial"/>
                <a:sym typeface="Arial"/>
              </a:rPr>
              <a:t>:</a:t>
            </a:r>
            <a:endParaRPr sz="1600">
              <a:solidFill>
                <a:srgbClr val="000000"/>
              </a:solidFill>
              <a:highlight>
                <a:schemeClr val="dk1"/>
              </a:highlight>
              <a:latin typeface="Arial"/>
              <a:ea typeface="Arial"/>
              <a:cs typeface="Arial"/>
              <a:sym typeface="Arial"/>
            </a:endParaRPr>
          </a:p>
          <a:p>
            <a:pPr indent="-323850" lvl="0" marL="457200" rtl="0" algn="l">
              <a:spcBef>
                <a:spcPts val="1200"/>
              </a:spcBef>
              <a:spcAft>
                <a:spcPts val="0"/>
              </a:spcAft>
              <a:buClr>
                <a:srgbClr val="000000"/>
              </a:buClr>
              <a:buSzPts val="1500"/>
              <a:buFont typeface="Arial"/>
              <a:buChar char="-"/>
            </a:pPr>
            <a:r>
              <a:rPr b="1" lang="vi" sz="1500">
                <a:solidFill>
                  <a:srgbClr val="000000"/>
                </a:solidFill>
                <a:latin typeface="Arial"/>
                <a:ea typeface="Arial"/>
                <a:cs typeface="Arial"/>
                <a:sym typeface="Arial"/>
              </a:rPr>
              <a:t>Conditional control structures (S</a:t>
            </a:r>
            <a:r>
              <a:rPr b="1" baseline="-25000" lang="vi" sz="1500">
                <a:solidFill>
                  <a:srgbClr val="000000"/>
                </a:solidFill>
                <a:latin typeface="Arial"/>
                <a:ea typeface="Arial"/>
                <a:cs typeface="Arial"/>
                <a:sym typeface="Arial"/>
              </a:rPr>
              <a:t>cc</a:t>
            </a:r>
            <a:r>
              <a:rPr b="1" lang="vi" sz="1500">
                <a:solidFill>
                  <a:srgbClr val="000000"/>
                </a:solidFill>
                <a:latin typeface="Arial"/>
                <a:ea typeface="Arial"/>
                <a:cs typeface="Arial"/>
                <a:sym typeface="Arial"/>
              </a:rPr>
              <a:t>)</a:t>
            </a:r>
            <a:r>
              <a:rPr lang="vi" sz="1500">
                <a:solidFill>
                  <a:srgbClr val="000000"/>
                </a:solidFill>
                <a:latin typeface="Arial"/>
                <a:ea typeface="Arial"/>
                <a:cs typeface="Arial"/>
                <a:sym typeface="Arial"/>
              </a:rPr>
              <a:t>: Cấu trúc điều khiển có điều kiện bao gồm </a:t>
            </a:r>
            <a:r>
              <a:rPr b="1" lang="vi" sz="1500">
                <a:solidFill>
                  <a:srgbClr val="000000"/>
                </a:solidFill>
                <a:latin typeface="Arial"/>
                <a:ea typeface="Arial"/>
                <a:cs typeface="Arial"/>
                <a:sym typeface="Arial"/>
              </a:rPr>
              <a:t>alt</a:t>
            </a:r>
            <a:r>
              <a:rPr lang="vi" sz="1500">
                <a:solidFill>
                  <a:srgbClr val="000000"/>
                </a:solidFill>
                <a:latin typeface="Arial"/>
                <a:ea typeface="Arial"/>
                <a:cs typeface="Arial"/>
                <a:sym typeface="Arial"/>
              </a:rPr>
              <a:t> và </a:t>
            </a:r>
            <a:r>
              <a:rPr b="1" lang="vi" sz="1500">
                <a:solidFill>
                  <a:srgbClr val="000000"/>
                </a:solidFill>
                <a:latin typeface="Arial"/>
                <a:ea typeface="Arial"/>
                <a:cs typeface="Arial"/>
                <a:sym typeface="Arial"/>
              </a:rPr>
              <a:t>opt fragments</a:t>
            </a:r>
            <a:r>
              <a:rPr lang="vi" sz="1500">
                <a:solidFill>
                  <a:srgbClr val="000000"/>
                </a:solidFill>
                <a:latin typeface="Arial"/>
                <a:ea typeface="Arial"/>
                <a:cs typeface="Arial"/>
                <a:sym typeface="Arial"/>
              </a:rPr>
              <a:t>. </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b="1" lang="vi" sz="1500">
                <a:solidFill>
                  <a:srgbClr val="000000"/>
                </a:solidFill>
                <a:latin typeface="Arial"/>
                <a:ea typeface="Arial"/>
                <a:cs typeface="Arial"/>
                <a:sym typeface="Arial"/>
              </a:rPr>
              <a:t>Iterative control structures (S</a:t>
            </a:r>
            <a:r>
              <a:rPr b="1" baseline="-25000" lang="vi" sz="1500">
                <a:solidFill>
                  <a:srgbClr val="000000"/>
                </a:solidFill>
                <a:latin typeface="Arial"/>
                <a:ea typeface="Arial"/>
                <a:cs typeface="Arial"/>
                <a:sym typeface="Arial"/>
              </a:rPr>
              <a:t>ic</a:t>
            </a:r>
            <a:r>
              <a:rPr b="1" lang="vi" sz="1500">
                <a:solidFill>
                  <a:srgbClr val="000000"/>
                </a:solidFill>
                <a:latin typeface="Arial"/>
                <a:ea typeface="Arial"/>
                <a:cs typeface="Arial"/>
                <a:sym typeface="Arial"/>
              </a:rPr>
              <a:t>):</a:t>
            </a:r>
            <a:r>
              <a:rPr lang="vi" sz="1500">
                <a:solidFill>
                  <a:srgbClr val="000000"/>
                </a:solidFill>
                <a:latin typeface="Arial"/>
                <a:ea typeface="Arial"/>
                <a:cs typeface="Arial"/>
                <a:sym typeface="Arial"/>
              </a:rPr>
              <a:t> Cấu trúc điều khiển lặp bao gồm </a:t>
            </a:r>
            <a:r>
              <a:rPr b="1" lang="vi" sz="1500">
                <a:solidFill>
                  <a:srgbClr val="000000"/>
                </a:solidFill>
                <a:latin typeface="Arial"/>
                <a:ea typeface="Arial"/>
                <a:cs typeface="Arial"/>
                <a:sym typeface="Arial"/>
              </a:rPr>
              <a:t>loop fragments</a:t>
            </a:r>
            <a:r>
              <a:rPr lang="vi" sz="1500">
                <a:solidFill>
                  <a:srgbClr val="000000"/>
                </a:solidFill>
                <a:latin typeface="Arial"/>
                <a:ea typeface="Arial"/>
                <a:cs typeface="Arial"/>
                <a:sym typeface="Arial"/>
              </a:rPr>
              <a:t>.</a:t>
            </a:r>
            <a:endParaRPr sz="15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t/>
            </a:r>
            <a:endParaRPr sz="1700">
              <a:solidFill>
                <a:srgbClr val="000000"/>
              </a:solidFill>
              <a:highlight>
                <a:schemeClr val="dk1"/>
              </a:highlight>
              <a:latin typeface="Arial"/>
              <a:ea typeface="Arial"/>
              <a:cs typeface="Arial"/>
              <a:sym typeface="Arial"/>
            </a:endParaRPr>
          </a:p>
          <a:p>
            <a:pPr indent="0" lvl="0" marL="0" rtl="0" algn="l">
              <a:spcBef>
                <a:spcPts val="1200"/>
              </a:spcBef>
              <a:spcAft>
                <a:spcPts val="1200"/>
              </a:spcAft>
              <a:buNone/>
            </a:pPr>
            <a:r>
              <a:t/>
            </a:r>
            <a:endParaRPr sz="1800">
              <a:highlight>
                <a:schemeClr val="dk1"/>
              </a:highlight>
            </a:endParaRPr>
          </a:p>
        </p:txBody>
      </p:sp>
      <p:sp>
        <p:nvSpPr>
          <p:cNvPr id="231" name="Google Shape;231;p29"/>
          <p:cNvSpPr txBox="1"/>
          <p:nvPr>
            <p:ph type="title"/>
          </p:nvPr>
        </p:nvSpPr>
        <p:spPr>
          <a:xfrm>
            <a:off x="398200" y="490400"/>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Phương pháp thực hiện</a:t>
            </a:r>
            <a:endParaRPr>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0"/>
          <p:cNvSpPr txBox="1"/>
          <p:nvPr>
            <p:ph idx="1" type="body"/>
          </p:nvPr>
        </p:nvSpPr>
        <p:spPr>
          <a:xfrm>
            <a:off x="475800" y="1078675"/>
            <a:ext cx="8180100" cy="372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vi" sz="1700">
                <a:solidFill>
                  <a:srgbClr val="000000"/>
                </a:solidFill>
                <a:highlight>
                  <a:schemeClr val="dk1"/>
                </a:highlight>
                <a:latin typeface="Arial"/>
                <a:ea typeface="Arial"/>
                <a:cs typeface="Arial"/>
                <a:sym typeface="Arial"/>
              </a:rPr>
              <a:t>3. </a:t>
            </a:r>
            <a:r>
              <a:rPr lang="vi" sz="1700">
                <a:solidFill>
                  <a:srgbClr val="000000"/>
                </a:solidFill>
                <a:highlight>
                  <a:schemeClr val="dk1"/>
                </a:highlight>
                <a:latin typeface="Arial"/>
                <a:ea typeface="Arial"/>
                <a:cs typeface="Arial"/>
                <a:sym typeface="Arial"/>
              </a:rPr>
              <a:t>Thiết kế meta-model</a:t>
            </a:r>
            <a:endParaRPr sz="17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rPr lang="vi">
                <a:solidFill>
                  <a:srgbClr val="000000"/>
                </a:solidFill>
                <a:highlight>
                  <a:schemeClr val="dk1"/>
                </a:highlight>
                <a:latin typeface="Arial"/>
                <a:ea typeface="Arial"/>
                <a:cs typeface="Arial"/>
                <a:sym typeface="Arial"/>
              </a:rPr>
              <a:t>Meta-model mô tả các thực thể, thuộc tính và cả mối quan hệ giữa chúng</a:t>
            </a:r>
            <a:endParaRPr>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1200"/>
              </a:spcAft>
              <a:buNone/>
            </a:pPr>
            <a:r>
              <a:t/>
            </a:r>
            <a:endParaRPr sz="1800">
              <a:highlight>
                <a:schemeClr val="dk1"/>
              </a:highlight>
            </a:endParaRPr>
          </a:p>
        </p:txBody>
      </p:sp>
      <p:pic>
        <p:nvPicPr>
          <p:cNvPr id="237" name="Google Shape;237;p30"/>
          <p:cNvPicPr preferRelativeResize="0"/>
          <p:nvPr/>
        </p:nvPicPr>
        <p:blipFill>
          <a:blip r:embed="rId3">
            <a:alphaModFix/>
          </a:blip>
          <a:stretch>
            <a:fillRect/>
          </a:stretch>
        </p:blipFill>
        <p:spPr>
          <a:xfrm>
            <a:off x="1960075" y="1893225"/>
            <a:ext cx="4775150" cy="2653350"/>
          </a:xfrm>
          <a:prstGeom prst="rect">
            <a:avLst/>
          </a:prstGeom>
          <a:noFill/>
          <a:ln cap="flat" cmpd="sng" w="9525">
            <a:solidFill>
              <a:schemeClr val="dk2"/>
            </a:solidFill>
            <a:prstDash val="solid"/>
            <a:round/>
            <a:headEnd len="sm" w="sm" type="none"/>
            <a:tailEnd len="sm" w="sm" type="none"/>
          </a:ln>
        </p:spPr>
      </p:pic>
      <p:sp>
        <p:nvSpPr>
          <p:cNvPr id="238" name="Google Shape;238;p30"/>
          <p:cNvSpPr txBox="1"/>
          <p:nvPr>
            <p:ph type="title"/>
          </p:nvPr>
        </p:nvSpPr>
        <p:spPr>
          <a:xfrm>
            <a:off x="398200" y="490400"/>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Phương pháp thực hiện</a:t>
            </a:r>
            <a:endParaRPr>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1"/>
          <p:cNvSpPr txBox="1"/>
          <p:nvPr>
            <p:ph idx="1" type="body"/>
          </p:nvPr>
        </p:nvSpPr>
        <p:spPr>
          <a:xfrm>
            <a:off x="475800" y="1301825"/>
            <a:ext cx="7849200" cy="3136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vi" sz="2050">
                <a:solidFill>
                  <a:srgbClr val="000000"/>
                </a:solidFill>
                <a:highlight>
                  <a:schemeClr val="dk1"/>
                </a:highlight>
                <a:latin typeface="Arial"/>
                <a:ea typeface="Arial"/>
                <a:cs typeface="Arial"/>
                <a:sym typeface="Arial"/>
              </a:rPr>
              <a:t>II. </a:t>
            </a:r>
            <a:r>
              <a:rPr lang="vi" sz="1900">
                <a:solidFill>
                  <a:srgbClr val="000000"/>
                </a:solidFill>
                <a:highlight>
                  <a:schemeClr val="dk1"/>
                </a:highlight>
                <a:latin typeface="Arial"/>
                <a:ea typeface="Arial"/>
                <a:cs typeface="Arial"/>
                <a:sym typeface="Arial"/>
              </a:rPr>
              <a:t>Đo kích thước cấu trúc của Sequence Diagram ở mức độ chi tiết tốt </a:t>
            </a:r>
            <a:r>
              <a:rPr lang="vi" sz="1900">
                <a:solidFill>
                  <a:srgbClr val="000000"/>
                </a:solidFill>
                <a:highlight>
                  <a:schemeClr val="dk1"/>
                </a:highlight>
                <a:latin typeface="Arial"/>
                <a:ea typeface="Arial"/>
                <a:cs typeface="Arial"/>
                <a:sym typeface="Arial"/>
              </a:rPr>
              <a:t>(at a fine level of granularity)</a:t>
            </a:r>
            <a:endParaRPr sz="19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rPr lang="vi" sz="1800">
                <a:solidFill>
                  <a:srgbClr val="000000"/>
                </a:solidFill>
                <a:highlight>
                  <a:schemeClr val="dk1"/>
                </a:highlight>
                <a:latin typeface="Arial"/>
                <a:ea typeface="Arial"/>
                <a:cs typeface="Arial"/>
                <a:sym typeface="Arial"/>
              </a:rPr>
              <a:t>b. </a:t>
            </a:r>
            <a:r>
              <a:rPr lang="vi" sz="1700">
                <a:solidFill>
                  <a:srgbClr val="000000"/>
                </a:solidFill>
                <a:highlight>
                  <a:schemeClr val="dk1"/>
                </a:highlight>
                <a:latin typeface="Arial"/>
                <a:ea typeface="Arial"/>
                <a:cs typeface="Arial"/>
                <a:sym typeface="Arial"/>
              </a:rPr>
              <a:t>Quy trình đo kích thước cấu trúc điều khiển của</a:t>
            </a:r>
            <a:r>
              <a:rPr lang="vi" sz="1700">
                <a:solidFill>
                  <a:srgbClr val="000000"/>
                </a:solidFill>
                <a:highlight>
                  <a:schemeClr val="dk1"/>
                </a:highlight>
                <a:latin typeface="Arial"/>
                <a:ea typeface="Arial"/>
                <a:cs typeface="Arial"/>
                <a:sym typeface="Arial"/>
              </a:rPr>
              <a:t> Sequence Diagram với đơn vị CSM (Control Structure Manipulation).</a:t>
            </a:r>
            <a:r>
              <a:rPr i="1" lang="vi" sz="1700">
                <a:solidFill>
                  <a:srgbClr val="000000"/>
                </a:solidFill>
                <a:highlight>
                  <a:schemeClr val="dk1"/>
                </a:highlight>
                <a:latin typeface="Arial"/>
                <a:ea typeface="Arial"/>
                <a:cs typeface="Arial"/>
                <a:sym typeface="Arial"/>
              </a:rPr>
              <a:t> </a:t>
            </a:r>
            <a:endParaRPr i="1" sz="1700">
              <a:solidFill>
                <a:srgbClr val="000000"/>
              </a:solidFill>
              <a:highlight>
                <a:schemeClr val="dk1"/>
              </a:highlight>
              <a:latin typeface="Arial"/>
              <a:ea typeface="Arial"/>
              <a:cs typeface="Arial"/>
              <a:sym typeface="Arial"/>
            </a:endParaRPr>
          </a:p>
          <a:p>
            <a:pPr indent="-330200" lvl="0" marL="457200" rtl="0" algn="l">
              <a:spcBef>
                <a:spcPts val="1200"/>
              </a:spcBef>
              <a:spcAft>
                <a:spcPts val="0"/>
              </a:spcAft>
              <a:buClr>
                <a:srgbClr val="000000"/>
              </a:buClr>
              <a:buSzPts val="1600"/>
              <a:buFont typeface="Arial"/>
              <a:buAutoNum type="arabicPeriod"/>
            </a:pPr>
            <a:r>
              <a:rPr lang="vi" sz="1600">
                <a:solidFill>
                  <a:srgbClr val="000000"/>
                </a:solidFill>
                <a:highlight>
                  <a:schemeClr val="dk1"/>
                </a:highlight>
                <a:latin typeface="Arial"/>
                <a:ea typeface="Arial"/>
                <a:cs typeface="Arial"/>
                <a:sym typeface="Arial"/>
              </a:rPr>
              <a:t>Ánh xạ các </a:t>
            </a:r>
            <a:r>
              <a:rPr lang="vi" sz="1500">
                <a:solidFill>
                  <a:srgbClr val="000000"/>
                </a:solidFill>
                <a:highlight>
                  <a:schemeClr val="dk1"/>
                </a:highlight>
                <a:latin typeface="Arial"/>
                <a:ea typeface="Arial"/>
                <a:cs typeface="Arial"/>
                <a:sym typeface="Arial"/>
              </a:rPr>
              <a:t>combined fragments</a:t>
            </a:r>
            <a:r>
              <a:rPr lang="vi" sz="1600">
                <a:solidFill>
                  <a:srgbClr val="000000"/>
                </a:solidFill>
                <a:highlight>
                  <a:schemeClr val="dk1"/>
                </a:highlight>
                <a:latin typeface="Arial"/>
                <a:ea typeface="Arial"/>
                <a:cs typeface="Arial"/>
                <a:sym typeface="Arial"/>
              </a:rPr>
              <a:t> của Sequence Diagram sang flow graph.</a:t>
            </a:r>
            <a:endParaRPr sz="1600">
              <a:solidFill>
                <a:srgbClr val="000000"/>
              </a:solidFill>
              <a:highlight>
                <a:schemeClr val="dk1"/>
              </a:highlight>
              <a:latin typeface="Arial"/>
              <a:ea typeface="Arial"/>
              <a:cs typeface="Arial"/>
              <a:sym typeface="Arial"/>
            </a:endParaRPr>
          </a:p>
          <a:p>
            <a:pPr indent="-330200" lvl="0" marL="457200" rtl="0" algn="l">
              <a:spcBef>
                <a:spcPts val="0"/>
              </a:spcBef>
              <a:spcAft>
                <a:spcPts val="0"/>
              </a:spcAft>
              <a:buClr>
                <a:srgbClr val="000000"/>
              </a:buClr>
              <a:buSzPts val="1600"/>
              <a:buFont typeface="Arial"/>
              <a:buAutoNum type="arabicPeriod"/>
            </a:pPr>
            <a:r>
              <a:rPr lang="vi" sz="1600">
                <a:solidFill>
                  <a:srgbClr val="000000"/>
                </a:solidFill>
                <a:highlight>
                  <a:schemeClr val="dk1"/>
                </a:highlight>
                <a:latin typeface="Arial"/>
                <a:ea typeface="Arial"/>
                <a:cs typeface="Arial"/>
                <a:sym typeface="Arial"/>
              </a:rPr>
              <a:t>Nhận dạng </a:t>
            </a:r>
            <a:r>
              <a:rPr lang="vi" sz="1600">
                <a:solidFill>
                  <a:srgbClr val="000000"/>
                </a:solidFill>
                <a:highlight>
                  <a:schemeClr val="dk1"/>
                </a:highlight>
                <a:latin typeface="Arial"/>
                <a:ea typeface="Arial"/>
                <a:cs typeface="Arial"/>
                <a:sym typeface="Arial"/>
              </a:rPr>
              <a:t>và định cỡ các cấu trúc điều khiển có điều kiện và điều khiển lặp trong flow graph.</a:t>
            </a:r>
            <a:endParaRPr sz="1600">
              <a:solidFill>
                <a:srgbClr val="000000"/>
              </a:solidFill>
              <a:highlight>
                <a:schemeClr val="dk1"/>
              </a:highlight>
              <a:latin typeface="Arial"/>
              <a:ea typeface="Arial"/>
              <a:cs typeface="Arial"/>
              <a:sym typeface="Arial"/>
            </a:endParaRPr>
          </a:p>
          <a:p>
            <a:pPr indent="-330200" lvl="0" marL="457200" rtl="0" algn="l">
              <a:spcBef>
                <a:spcPts val="0"/>
              </a:spcBef>
              <a:spcAft>
                <a:spcPts val="0"/>
              </a:spcAft>
              <a:buClr>
                <a:srgbClr val="000000"/>
              </a:buClr>
              <a:buSzPts val="1600"/>
              <a:buFont typeface="Arial"/>
              <a:buAutoNum type="arabicPeriod"/>
            </a:pPr>
            <a:r>
              <a:rPr lang="vi" sz="1600">
                <a:solidFill>
                  <a:srgbClr val="000000"/>
                </a:solidFill>
                <a:highlight>
                  <a:schemeClr val="dk1"/>
                </a:highlight>
                <a:latin typeface="Arial"/>
                <a:ea typeface="Arial"/>
                <a:cs typeface="Arial"/>
                <a:sym typeface="Arial"/>
              </a:rPr>
              <a:t>Đo kích thước cấu trúc của Sequence Diagram với đơn vị CSM (Control Structure Manipulation).</a:t>
            </a:r>
            <a:endParaRPr sz="1600">
              <a:highlight>
                <a:schemeClr val="dk1"/>
              </a:highlight>
            </a:endParaRPr>
          </a:p>
        </p:txBody>
      </p:sp>
      <p:sp>
        <p:nvSpPr>
          <p:cNvPr id="244" name="Google Shape;244;p31"/>
          <p:cNvSpPr txBox="1"/>
          <p:nvPr>
            <p:ph type="title"/>
          </p:nvPr>
        </p:nvSpPr>
        <p:spPr>
          <a:xfrm>
            <a:off x="398200" y="490400"/>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Phương pháp thực hiện</a:t>
            </a:r>
            <a:endParaRPr>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2"/>
          <p:cNvSpPr txBox="1"/>
          <p:nvPr>
            <p:ph idx="1" type="body"/>
          </p:nvPr>
        </p:nvSpPr>
        <p:spPr>
          <a:xfrm>
            <a:off x="289400" y="881350"/>
            <a:ext cx="8379600" cy="1381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1200"/>
              </a:spcAft>
              <a:buNone/>
            </a:pPr>
            <a:r>
              <a:rPr lang="vi" sz="1500">
                <a:solidFill>
                  <a:srgbClr val="000000"/>
                </a:solidFill>
                <a:highlight>
                  <a:schemeClr val="dk1"/>
                </a:highlight>
                <a:latin typeface="Arial"/>
                <a:ea typeface="Arial"/>
                <a:cs typeface="Arial"/>
                <a:sym typeface="Arial"/>
              </a:rPr>
              <a:t>1. </a:t>
            </a:r>
            <a:r>
              <a:rPr lang="vi" sz="1500">
                <a:solidFill>
                  <a:srgbClr val="000000"/>
                </a:solidFill>
                <a:highlight>
                  <a:schemeClr val="dk1"/>
                </a:highlight>
                <a:latin typeface="Arial"/>
                <a:ea typeface="Arial"/>
                <a:cs typeface="Arial"/>
                <a:sym typeface="Arial"/>
              </a:rPr>
              <a:t>Ánh xạ các</a:t>
            </a:r>
            <a:r>
              <a:rPr lang="vi" sz="1500">
                <a:solidFill>
                  <a:srgbClr val="000000"/>
                </a:solidFill>
                <a:highlight>
                  <a:schemeClr val="dk1"/>
                </a:highlight>
                <a:latin typeface="Arial"/>
                <a:ea typeface="Arial"/>
                <a:cs typeface="Arial"/>
                <a:sym typeface="Arial"/>
              </a:rPr>
              <a:t> combined fragments</a:t>
            </a:r>
            <a:r>
              <a:rPr lang="vi" sz="1500">
                <a:solidFill>
                  <a:srgbClr val="000000"/>
                </a:solidFill>
                <a:highlight>
                  <a:schemeClr val="dk1"/>
                </a:highlight>
                <a:latin typeface="Arial"/>
                <a:ea typeface="Arial"/>
                <a:cs typeface="Arial"/>
                <a:sym typeface="Arial"/>
              </a:rPr>
              <a:t> của Sequence </a:t>
            </a:r>
            <a:br>
              <a:rPr lang="vi" sz="1500">
                <a:solidFill>
                  <a:srgbClr val="000000"/>
                </a:solidFill>
                <a:highlight>
                  <a:schemeClr val="dk1"/>
                </a:highlight>
                <a:latin typeface="Arial"/>
                <a:ea typeface="Arial"/>
                <a:cs typeface="Arial"/>
                <a:sym typeface="Arial"/>
              </a:rPr>
            </a:br>
            <a:r>
              <a:rPr lang="vi" sz="1500">
                <a:solidFill>
                  <a:srgbClr val="000000"/>
                </a:solidFill>
                <a:highlight>
                  <a:schemeClr val="dk1"/>
                </a:highlight>
                <a:latin typeface="Arial"/>
                <a:ea typeface="Arial"/>
                <a:cs typeface="Arial"/>
                <a:sym typeface="Arial"/>
              </a:rPr>
              <a:t>Diagram sang flow graph.</a:t>
            </a:r>
            <a:endParaRPr sz="1500">
              <a:highlight>
                <a:schemeClr val="dk1"/>
              </a:highlight>
            </a:endParaRPr>
          </a:p>
        </p:txBody>
      </p:sp>
      <p:pic>
        <p:nvPicPr>
          <p:cNvPr id="250" name="Google Shape;250;p32"/>
          <p:cNvPicPr preferRelativeResize="0"/>
          <p:nvPr/>
        </p:nvPicPr>
        <p:blipFill>
          <a:blip r:embed="rId3">
            <a:alphaModFix/>
          </a:blip>
          <a:stretch>
            <a:fillRect/>
          </a:stretch>
        </p:blipFill>
        <p:spPr>
          <a:xfrm>
            <a:off x="289400" y="1696950"/>
            <a:ext cx="4212549" cy="2262624"/>
          </a:xfrm>
          <a:prstGeom prst="rect">
            <a:avLst/>
          </a:prstGeom>
          <a:noFill/>
          <a:ln cap="flat" cmpd="sng" w="9525">
            <a:solidFill>
              <a:schemeClr val="dk2"/>
            </a:solidFill>
            <a:prstDash val="solid"/>
            <a:round/>
            <a:headEnd len="sm" w="sm" type="none"/>
            <a:tailEnd len="sm" w="sm" type="none"/>
          </a:ln>
        </p:spPr>
      </p:pic>
      <p:pic>
        <p:nvPicPr>
          <p:cNvPr id="251" name="Google Shape;251;p32"/>
          <p:cNvPicPr preferRelativeResize="0"/>
          <p:nvPr/>
        </p:nvPicPr>
        <p:blipFill>
          <a:blip r:embed="rId4">
            <a:alphaModFix/>
          </a:blip>
          <a:stretch>
            <a:fillRect/>
          </a:stretch>
        </p:blipFill>
        <p:spPr>
          <a:xfrm>
            <a:off x="4814625" y="282588"/>
            <a:ext cx="4000725" cy="4578325"/>
          </a:xfrm>
          <a:prstGeom prst="rect">
            <a:avLst/>
          </a:prstGeom>
          <a:noFill/>
          <a:ln cap="flat" cmpd="sng" w="9525">
            <a:solidFill>
              <a:schemeClr val="dk2"/>
            </a:solidFill>
            <a:prstDash val="solid"/>
            <a:round/>
            <a:headEnd len="sm" w="sm" type="none"/>
            <a:tailEnd len="sm" w="sm" type="none"/>
          </a:ln>
        </p:spPr>
      </p:pic>
      <p:sp>
        <p:nvSpPr>
          <p:cNvPr id="252" name="Google Shape;252;p32"/>
          <p:cNvSpPr txBox="1"/>
          <p:nvPr>
            <p:ph type="title"/>
          </p:nvPr>
        </p:nvSpPr>
        <p:spPr>
          <a:xfrm>
            <a:off x="358750" y="411475"/>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Phương pháp thực hiện</a:t>
            </a:r>
            <a:endParaRPr>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3"/>
          <p:cNvSpPr txBox="1"/>
          <p:nvPr>
            <p:ph idx="1" type="body"/>
          </p:nvPr>
        </p:nvSpPr>
        <p:spPr>
          <a:xfrm>
            <a:off x="475800" y="1301825"/>
            <a:ext cx="7849200" cy="35259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vi" sz="1800">
                <a:solidFill>
                  <a:srgbClr val="000000"/>
                </a:solidFill>
                <a:highlight>
                  <a:schemeClr val="dk1"/>
                </a:highlight>
                <a:latin typeface="Arial"/>
                <a:ea typeface="Arial"/>
                <a:cs typeface="Arial"/>
                <a:sym typeface="Arial"/>
              </a:rPr>
              <a:t>2. </a:t>
            </a:r>
            <a:r>
              <a:rPr lang="vi" sz="1800">
                <a:solidFill>
                  <a:srgbClr val="000000"/>
                </a:solidFill>
                <a:highlight>
                  <a:schemeClr val="dk1"/>
                </a:highlight>
                <a:latin typeface="Arial"/>
                <a:ea typeface="Arial"/>
                <a:cs typeface="Arial"/>
                <a:sym typeface="Arial"/>
              </a:rPr>
              <a:t>Nhận dạng và định cỡ các cấu trúc điều khiển có điều kiện và điều khiển lặp trong flow graph. Công thức tính graph-based structural size (GSS)</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t/>
            </a:r>
            <a:endParaRPr sz="1800">
              <a:solidFill>
                <a:srgbClr val="000000"/>
              </a:solidFill>
              <a:highlight>
                <a:schemeClr val="dk1"/>
              </a:highlight>
              <a:latin typeface="Arial"/>
              <a:ea typeface="Arial"/>
              <a:cs typeface="Arial"/>
              <a:sym typeface="Arial"/>
            </a:endParaRPr>
          </a:p>
          <a:p>
            <a:pPr indent="0" lvl="0" marL="0" rtl="0" algn="l">
              <a:spcBef>
                <a:spcPts val="1200"/>
              </a:spcBef>
              <a:spcAft>
                <a:spcPts val="1200"/>
              </a:spcAft>
              <a:buNone/>
            </a:pPr>
            <a:r>
              <a:t/>
            </a:r>
            <a:endParaRPr sz="1800">
              <a:highlight>
                <a:schemeClr val="dk1"/>
              </a:highlight>
            </a:endParaRPr>
          </a:p>
        </p:txBody>
      </p:sp>
      <p:pic>
        <p:nvPicPr>
          <p:cNvPr id="258" name="Google Shape;258;p33"/>
          <p:cNvPicPr preferRelativeResize="0"/>
          <p:nvPr/>
        </p:nvPicPr>
        <p:blipFill>
          <a:blip r:embed="rId3">
            <a:alphaModFix/>
          </a:blip>
          <a:stretch>
            <a:fillRect/>
          </a:stretch>
        </p:blipFill>
        <p:spPr>
          <a:xfrm>
            <a:off x="1996250" y="2061200"/>
            <a:ext cx="5151499" cy="2621875"/>
          </a:xfrm>
          <a:prstGeom prst="rect">
            <a:avLst/>
          </a:prstGeom>
          <a:noFill/>
          <a:ln>
            <a:noFill/>
          </a:ln>
        </p:spPr>
      </p:pic>
      <p:sp>
        <p:nvSpPr>
          <p:cNvPr id="259" name="Google Shape;259;p33"/>
          <p:cNvSpPr txBox="1"/>
          <p:nvPr>
            <p:ph type="title"/>
          </p:nvPr>
        </p:nvSpPr>
        <p:spPr>
          <a:xfrm>
            <a:off x="398200" y="490400"/>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Phương pháp thực hiện</a:t>
            </a:r>
            <a:endParaRPr>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4"/>
          <p:cNvSpPr txBox="1"/>
          <p:nvPr>
            <p:ph type="title"/>
          </p:nvPr>
        </p:nvSpPr>
        <p:spPr>
          <a:xfrm>
            <a:off x="398200" y="490400"/>
            <a:ext cx="7505700" cy="5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Phương pháp thực hiện</a:t>
            </a:r>
            <a:endParaRPr>
              <a:latin typeface="Arial"/>
              <a:ea typeface="Arial"/>
              <a:cs typeface="Arial"/>
              <a:sym typeface="Arial"/>
            </a:endParaRPr>
          </a:p>
        </p:txBody>
      </p:sp>
      <p:sp>
        <p:nvSpPr>
          <p:cNvPr id="265" name="Google Shape;265;p34"/>
          <p:cNvSpPr txBox="1"/>
          <p:nvPr>
            <p:ph idx="1" type="body"/>
          </p:nvPr>
        </p:nvSpPr>
        <p:spPr>
          <a:xfrm>
            <a:off x="398200" y="1065500"/>
            <a:ext cx="8481300" cy="3775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vi" sz="1800">
                <a:solidFill>
                  <a:srgbClr val="000000"/>
                </a:solidFill>
                <a:highlight>
                  <a:schemeClr val="dk1"/>
                </a:highlight>
                <a:latin typeface="Arial"/>
                <a:ea typeface="Arial"/>
                <a:cs typeface="Arial"/>
                <a:sym typeface="Arial"/>
              </a:rPr>
              <a:t>3. </a:t>
            </a:r>
            <a:r>
              <a:rPr lang="vi" sz="1800">
                <a:solidFill>
                  <a:srgbClr val="000000"/>
                </a:solidFill>
                <a:highlight>
                  <a:schemeClr val="dk1"/>
                </a:highlight>
                <a:latin typeface="Arial"/>
                <a:ea typeface="Arial"/>
                <a:cs typeface="Arial"/>
                <a:sym typeface="Arial"/>
              </a:rPr>
              <a:t>Đo kích thước cấu trúc của Sequence Diagram với đơn vị CSM (Control Structure Manipulation).</a:t>
            </a:r>
            <a:endParaRPr sz="1800">
              <a:solidFill>
                <a:srgbClr val="000000"/>
              </a:solidFill>
              <a:highlight>
                <a:schemeClr val="dk1"/>
              </a:highlight>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vi" sz="1500">
                <a:solidFill>
                  <a:srgbClr val="000000"/>
                </a:solidFill>
                <a:highlight>
                  <a:schemeClr val="dk1"/>
                </a:highlight>
                <a:latin typeface="Arial"/>
                <a:ea typeface="Arial"/>
                <a:cs typeface="Arial"/>
                <a:sym typeface="Arial"/>
              </a:rPr>
              <a:t>Gọi </a:t>
            </a:r>
            <a:r>
              <a:rPr i="1" lang="vi" sz="1500">
                <a:solidFill>
                  <a:srgbClr val="000000"/>
                </a:solidFill>
                <a:latin typeface="Arial"/>
                <a:ea typeface="Arial"/>
                <a:cs typeface="Arial"/>
                <a:sym typeface="Arial"/>
              </a:rPr>
              <a:t>Sq</a:t>
            </a:r>
            <a:r>
              <a:rPr lang="vi" sz="1500">
                <a:solidFill>
                  <a:srgbClr val="000000"/>
                </a:solidFill>
                <a:latin typeface="Arial"/>
                <a:ea typeface="Arial"/>
                <a:cs typeface="Arial"/>
                <a:sym typeface="Arial"/>
              </a:rPr>
              <a:t>: Sequence Diagram, </a:t>
            </a:r>
            <a:r>
              <a:rPr i="1" lang="vi" sz="1500">
                <a:solidFill>
                  <a:srgbClr val="000000"/>
                </a:solidFill>
                <a:latin typeface="Arial"/>
                <a:ea typeface="Arial"/>
                <a:cs typeface="Arial"/>
                <a:sym typeface="Arial"/>
              </a:rPr>
              <a:t>GSq</a:t>
            </a:r>
            <a:r>
              <a:rPr lang="vi" sz="1500">
                <a:solidFill>
                  <a:srgbClr val="000000"/>
                </a:solidFill>
                <a:latin typeface="Arial"/>
                <a:ea typeface="Arial"/>
                <a:cs typeface="Arial"/>
                <a:sym typeface="Arial"/>
              </a:rPr>
              <a:t>: flow graph</a:t>
            </a:r>
            <a:r>
              <a:rPr b="1" lang="vi" sz="1500">
                <a:solidFill>
                  <a:srgbClr val="000000"/>
                </a:solidFill>
                <a:latin typeface="Arial"/>
                <a:ea typeface="Arial"/>
                <a:cs typeface="Arial"/>
                <a:sym typeface="Arial"/>
              </a:rPr>
              <a:t>, </a:t>
            </a:r>
            <a:r>
              <a:rPr i="1" lang="vi" sz="1500">
                <a:solidFill>
                  <a:srgbClr val="000000"/>
                </a:solidFill>
                <a:latin typeface="Arial"/>
                <a:ea typeface="Arial"/>
                <a:cs typeface="Arial"/>
                <a:sym typeface="Arial"/>
              </a:rPr>
              <a:t>S</a:t>
            </a:r>
            <a:r>
              <a:rPr baseline="-25000" i="1" lang="vi" sz="1500">
                <a:solidFill>
                  <a:srgbClr val="000000"/>
                </a:solidFill>
                <a:latin typeface="Arial"/>
                <a:ea typeface="Arial"/>
                <a:cs typeface="Arial"/>
                <a:sym typeface="Arial"/>
              </a:rPr>
              <a:t>ic</a:t>
            </a:r>
            <a:r>
              <a:rPr lang="vi" sz="1500">
                <a:solidFill>
                  <a:srgbClr val="000000"/>
                </a:solidFill>
                <a:latin typeface="Arial"/>
                <a:ea typeface="Arial"/>
                <a:cs typeface="Arial"/>
                <a:sym typeface="Arial"/>
              </a:rPr>
              <a:t>: Iterative control structures (loop), </a:t>
            </a:r>
            <a:r>
              <a:rPr i="1" lang="vi" sz="1500">
                <a:solidFill>
                  <a:srgbClr val="000000"/>
                </a:solidFill>
                <a:latin typeface="Arial"/>
                <a:ea typeface="Arial"/>
                <a:cs typeface="Arial"/>
                <a:sym typeface="Arial"/>
              </a:rPr>
              <a:t>S</a:t>
            </a:r>
            <a:r>
              <a:rPr baseline="-25000" i="1" lang="vi" sz="1500">
                <a:solidFill>
                  <a:srgbClr val="000000"/>
                </a:solidFill>
                <a:latin typeface="Arial"/>
                <a:ea typeface="Arial"/>
                <a:cs typeface="Arial"/>
                <a:sym typeface="Arial"/>
              </a:rPr>
              <a:t>cc</a:t>
            </a:r>
            <a:r>
              <a:rPr lang="vi" sz="1500">
                <a:solidFill>
                  <a:srgbClr val="000000"/>
                </a:solidFill>
                <a:latin typeface="Arial"/>
                <a:ea typeface="Arial"/>
                <a:cs typeface="Arial"/>
                <a:sym typeface="Arial"/>
              </a:rPr>
              <a:t>: Conditional control structures (alt, opt), để tính structural size (</a:t>
            </a:r>
            <a:r>
              <a:rPr i="1" lang="vi" sz="1500">
                <a:solidFill>
                  <a:srgbClr val="000000"/>
                </a:solidFill>
                <a:latin typeface="Arial"/>
                <a:ea typeface="Arial"/>
                <a:cs typeface="Arial"/>
                <a:sym typeface="Arial"/>
              </a:rPr>
              <a:t>SS</a:t>
            </a:r>
            <a:r>
              <a:rPr lang="vi" sz="1500">
                <a:solidFill>
                  <a:srgbClr val="000000"/>
                </a:solidFill>
                <a:latin typeface="Arial"/>
                <a:ea typeface="Arial"/>
                <a:cs typeface="Arial"/>
                <a:sym typeface="Arial"/>
              </a:rPr>
              <a:t>) của </a:t>
            </a:r>
            <a:r>
              <a:rPr i="1" lang="vi" sz="1500">
                <a:solidFill>
                  <a:srgbClr val="000000"/>
                </a:solidFill>
                <a:latin typeface="Arial"/>
                <a:ea typeface="Arial"/>
                <a:cs typeface="Arial"/>
                <a:sym typeface="Arial"/>
              </a:rPr>
              <a:t>Sq</a:t>
            </a:r>
            <a:r>
              <a:rPr lang="vi" sz="1500">
                <a:solidFill>
                  <a:srgbClr val="000000"/>
                </a:solidFill>
                <a:latin typeface="Arial"/>
                <a:ea typeface="Arial"/>
                <a:cs typeface="Arial"/>
                <a:sym typeface="Arial"/>
              </a:rPr>
              <a:t> gồm 3 bước:</a:t>
            </a:r>
            <a:br>
              <a:rPr lang="vi" sz="1500">
                <a:solidFill>
                  <a:srgbClr val="000000"/>
                </a:solidFill>
                <a:latin typeface="Arial"/>
                <a:ea typeface="Arial"/>
                <a:cs typeface="Arial"/>
                <a:sym typeface="Arial"/>
              </a:rPr>
            </a:br>
            <a:endParaRPr sz="15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Kích thước của các cấu trúc điều khiển lặp lại:</a:t>
            </a:r>
            <a:br>
              <a:rPr lang="vi">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Kích thước của các cấu trúc điều khiển có điều kiện:</a:t>
            </a:r>
            <a:endParaRPr>
              <a:solidFill>
                <a:srgbClr val="000000"/>
              </a:solidFill>
              <a:latin typeface="Arial"/>
              <a:ea typeface="Arial"/>
              <a:cs typeface="Arial"/>
              <a:sym typeface="Arial"/>
            </a:endParaRPr>
          </a:p>
          <a:p>
            <a:pPr indent="0" lvl="0" marL="0" rtl="0" algn="l">
              <a:spcBef>
                <a:spcPts val="1200"/>
              </a:spcBef>
              <a:spcAft>
                <a:spcPts val="0"/>
              </a:spcAft>
              <a:buNone/>
            </a:pPr>
            <a:r>
              <a:rPr lang="vi">
                <a:solidFill>
                  <a:srgbClr val="000000"/>
                </a:solidFill>
                <a:latin typeface="Arial"/>
                <a:ea typeface="Arial"/>
                <a:cs typeface="Arial"/>
                <a:sym typeface="Arial"/>
              </a:rPr>
              <a:t>									(</a:t>
            </a:r>
            <a:r>
              <a:rPr lang="vi" sz="1100">
                <a:solidFill>
                  <a:srgbClr val="000000"/>
                </a:solidFill>
                <a:latin typeface="Arial"/>
                <a:ea typeface="Arial"/>
                <a:cs typeface="Arial"/>
                <a:sym typeface="Arial"/>
              </a:rPr>
              <a:t>M là số lượng nodes đã được tính ở bước phía trên)</a:t>
            </a:r>
            <a:endParaRPr sz="11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Char char="●"/>
            </a:pPr>
            <a:r>
              <a:rPr lang="vi">
                <a:solidFill>
                  <a:srgbClr val="000000"/>
                </a:solidFill>
                <a:latin typeface="Arial"/>
                <a:ea typeface="Arial"/>
                <a:cs typeface="Arial"/>
                <a:sym typeface="Arial"/>
              </a:rPr>
              <a:t>Kích thước cấu trúc của Sequence Diagram cần tìm:</a:t>
            </a:r>
            <a:endParaRPr sz="1800">
              <a:highlight>
                <a:schemeClr val="dk1"/>
              </a:highlight>
            </a:endParaRPr>
          </a:p>
        </p:txBody>
      </p:sp>
      <p:pic>
        <p:nvPicPr>
          <p:cNvPr id="266" name="Google Shape;266;p34"/>
          <p:cNvPicPr preferRelativeResize="0"/>
          <p:nvPr/>
        </p:nvPicPr>
        <p:blipFill>
          <a:blip r:embed="rId3">
            <a:alphaModFix/>
          </a:blip>
          <a:stretch>
            <a:fillRect/>
          </a:stretch>
        </p:blipFill>
        <p:spPr>
          <a:xfrm>
            <a:off x="4572000" y="2571762"/>
            <a:ext cx="1195700" cy="485525"/>
          </a:xfrm>
          <a:prstGeom prst="rect">
            <a:avLst/>
          </a:prstGeom>
          <a:noFill/>
          <a:ln>
            <a:noFill/>
          </a:ln>
        </p:spPr>
      </p:pic>
      <p:pic>
        <p:nvPicPr>
          <p:cNvPr id="267" name="Google Shape;267;p34"/>
          <p:cNvPicPr preferRelativeResize="0"/>
          <p:nvPr/>
        </p:nvPicPr>
        <p:blipFill>
          <a:blip r:embed="rId4">
            <a:alphaModFix/>
          </a:blip>
          <a:stretch>
            <a:fillRect/>
          </a:stretch>
        </p:blipFill>
        <p:spPr>
          <a:xfrm>
            <a:off x="4900875" y="3121413"/>
            <a:ext cx="1312975" cy="426700"/>
          </a:xfrm>
          <a:prstGeom prst="rect">
            <a:avLst/>
          </a:prstGeom>
          <a:noFill/>
          <a:ln>
            <a:noFill/>
          </a:ln>
        </p:spPr>
      </p:pic>
      <p:pic>
        <p:nvPicPr>
          <p:cNvPr id="268" name="Google Shape;268;p34"/>
          <p:cNvPicPr preferRelativeResize="0"/>
          <p:nvPr/>
        </p:nvPicPr>
        <p:blipFill>
          <a:blip r:embed="rId5">
            <a:alphaModFix/>
          </a:blip>
          <a:stretch>
            <a:fillRect/>
          </a:stretch>
        </p:blipFill>
        <p:spPr>
          <a:xfrm>
            <a:off x="4900875" y="3953388"/>
            <a:ext cx="1575125" cy="315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5"/>
          <p:cNvSpPr txBox="1"/>
          <p:nvPr>
            <p:ph type="title"/>
          </p:nvPr>
        </p:nvSpPr>
        <p:spPr>
          <a:xfrm>
            <a:off x="819150" y="347525"/>
            <a:ext cx="7505700" cy="34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Đánh giá kết quả - Rice Cooker</a:t>
            </a:r>
            <a:endParaRPr/>
          </a:p>
        </p:txBody>
      </p:sp>
      <p:pic>
        <p:nvPicPr>
          <p:cNvPr id="274" name="Google Shape;274;p35"/>
          <p:cNvPicPr preferRelativeResize="0"/>
          <p:nvPr/>
        </p:nvPicPr>
        <p:blipFill>
          <a:blip r:embed="rId3">
            <a:alphaModFix/>
          </a:blip>
          <a:stretch>
            <a:fillRect/>
          </a:stretch>
        </p:blipFill>
        <p:spPr>
          <a:xfrm>
            <a:off x="1127850" y="1668150"/>
            <a:ext cx="6888299" cy="3117925"/>
          </a:xfrm>
          <a:prstGeom prst="rect">
            <a:avLst/>
          </a:prstGeom>
          <a:noFill/>
          <a:ln>
            <a:noFill/>
          </a:ln>
        </p:spPr>
      </p:pic>
      <p:sp>
        <p:nvSpPr>
          <p:cNvPr id="275" name="Google Shape;275;p35"/>
          <p:cNvSpPr txBox="1"/>
          <p:nvPr/>
        </p:nvSpPr>
        <p:spPr>
          <a:xfrm>
            <a:off x="1127775" y="992950"/>
            <a:ext cx="6888300" cy="10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vi" sz="1300">
                <a:solidFill>
                  <a:schemeClr val="dk2"/>
                </a:solidFill>
              </a:rPr>
              <a:t>Sử dụng  Sequence diagrams của case study “RICE COOKER” để minh họa cho việc áp dụng phương pháp đo lường được đề xuất.</a:t>
            </a:r>
            <a:endParaRPr sz="1300">
              <a:solidFill>
                <a:schemeClr val="dk2"/>
              </a:solidFill>
            </a:endParaRPr>
          </a:p>
          <a:p>
            <a:pPr indent="0" lvl="0" marL="0" rtl="0" algn="l">
              <a:spcBef>
                <a:spcPts val="1200"/>
              </a:spcBef>
              <a:spcAft>
                <a:spcPts val="0"/>
              </a:spcAft>
              <a:buNone/>
            </a:pPr>
            <a:r>
              <a:t/>
            </a:r>
            <a:endParaRPr>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ph type="title"/>
          </p:nvPr>
        </p:nvSpPr>
        <p:spPr>
          <a:xfrm>
            <a:off x="819150" y="337600"/>
            <a:ext cx="7505700" cy="595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Rice Cooker</a:t>
            </a:r>
            <a:endParaRPr>
              <a:latin typeface="Arial"/>
              <a:ea typeface="Arial"/>
              <a:cs typeface="Arial"/>
              <a:sym typeface="Arial"/>
            </a:endParaRPr>
          </a:p>
        </p:txBody>
      </p:sp>
      <p:sp>
        <p:nvSpPr>
          <p:cNvPr id="281" name="Google Shape;281;p3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2" name="Google Shape;282;p36"/>
          <p:cNvPicPr preferRelativeResize="0"/>
          <p:nvPr/>
        </p:nvPicPr>
        <p:blipFill>
          <a:blip r:embed="rId3">
            <a:alphaModFix/>
          </a:blip>
          <a:stretch>
            <a:fillRect/>
          </a:stretch>
        </p:blipFill>
        <p:spPr>
          <a:xfrm>
            <a:off x="600988" y="933401"/>
            <a:ext cx="7942016" cy="38610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7"/>
          <p:cNvSpPr txBox="1"/>
          <p:nvPr>
            <p:ph type="title"/>
          </p:nvPr>
        </p:nvSpPr>
        <p:spPr>
          <a:xfrm>
            <a:off x="819150" y="536200"/>
            <a:ext cx="75057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Rice Cooker</a:t>
            </a:r>
            <a:endParaRPr/>
          </a:p>
        </p:txBody>
      </p:sp>
      <p:pic>
        <p:nvPicPr>
          <p:cNvPr id="288" name="Google Shape;288;p37"/>
          <p:cNvPicPr preferRelativeResize="0"/>
          <p:nvPr/>
        </p:nvPicPr>
        <p:blipFill>
          <a:blip r:embed="rId3">
            <a:alphaModFix/>
          </a:blip>
          <a:stretch>
            <a:fillRect/>
          </a:stretch>
        </p:blipFill>
        <p:spPr>
          <a:xfrm>
            <a:off x="350075" y="1171600"/>
            <a:ext cx="8443851" cy="3321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8"/>
          <p:cNvSpPr txBox="1"/>
          <p:nvPr>
            <p:ph type="title"/>
          </p:nvPr>
        </p:nvSpPr>
        <p:spPr>
          <a:xfrm>
            <a:off x="819150" y="337600"/>
            <a:ext cx="7505700" cy="615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Đánh giá kết quả - Rice Cooker</a:t>
            </a:r>
            <a:endParaRPr>
              <a:latin typeface="Arial"/>
              <a:ea typeface="Arial"/>
              <a:cs typeface="Arial"/>
              <a:sym typeface="Arial"/>
            </a:endParaRPr>
          </a:p>
        </p:txBody>
      </p:sp>
      <p:sp>
        <p:nvSpPr>
          <p:cNvPr id="294" name="Google Shape;294;p38"/>
          <p:cNvSpPr txBox="1"/>
          <p:nvPr>
            <p:ph idx="1" type="body"/>
          </p:nvPr>
        </p:nvSpPr>
        <p:spPr>
          <a:xfrm>
            <a:off x="819150" y="1213175"/>
            <a:ext cx="2178600" cy="334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latin typeface="Arial"/>
                <a:ea typeface="Arial"/>
                <a:cs typeface="Arial"/>
                <a:sym typeface="Arial"/>
              </a:rPr>
              <a:t>Sử dụng  Sequence diagrams của case study “RICE COOKER”[16] để minh họa cho việc áp dụng phương pháp đo lường được đề xuất</a:t>
            </a:r>
            <a:endParaRPr>
              <a:latin typeface="Arial"/>
              <a:ea typeface="Arial"/>
              <a:cs typeface="Arial"/>
              <a:sym typeface="Arial"/>
            </a:endParaRPr>
          </a:p>
          <a:p>
            <a:pPr indent="0" lvl="0" marL="0" rtl="0" algn="l">
              <a:spcBef>
                <a:spcPts val="1200"/>
              </a:spcBef>
              <a:spcAft>
                <a:spcPts val="1200"/>
              </a:spcAft>
              <a:buNone/>
            </a:pPr>
            <a:r>
              <a:t/>
            </a:r>
            <a:endParaRPr/>
          </a:p>
        </p:txBody>
      </p:sp>
      <p:pic>
        <p:nvPicPr>
          <p:cNvPr id="295" name="Google Shape;295;p38"/>
          <p:cNvPicPr preferRelativeResize="0"/>
          <p:nvPr/>
        </p:nvPicPr>
        <p:blipFill>
          <a:blip r:embed="rId3">
            <a:alphaModFix/>
          </a:blip>
          <a:stretch>
            <a:fillRect/>
          </a:stretch>
        </p:blipFill>
        <p:spPr>
          <a:xfrm>
            <a:off x="3215950" y="953188"/>
            <a:ext cx="5108901" cy="1698950"/>
          </a:xfrm>
          <a:prstGeom prst="rect">
            <a:avLst/>
          </a:prstGeom>
          <a:noFill/>
          <a:ln>
            <a:noFill/>
          </a:ln>
          <a:effectLst>
            <a:outerShdw blurRad="57150" rotWithShape="0" algn="bl" dir="5400000" dist="19050">
              <a:srgbClr val="000000">
                <a:alpha val="50000"/>
              </a:srgbClr>
            </a:outerShdw>
          </a:effectLst>
        </p:spPr>
      </p:pic>
      <p:pic>
        <p:nvPicPr>
          <p:cNvPr id="296" name="Google Shape;296;p38"/>
          <p:cNvPicPr preferRelativeResize="0"/>
          <p:nvPr/>
        </p:nvPicPr>
        <p:blipFill>
          <a:blip r:embed="rId4">
            <a:alphaModFix/>
          </a:blip>
          <a:stretch>
            <a:fillRect/>
          </a:stretch>
        </p:blipFill>
        <p:spPr>
          <a:xfrm>
            <a:off x="3215950" y="2899640"/>
            <a:ext cx="5108901" cy="1722535"/>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95"/>
                                        </p:tgtEl>
                                        <p:attrNameLst>
                                          <p:attrName>style.visibility</p:attrName>
                                        </p:attrNameLst>
                                      </p:cBhvr>
                                      <p:to>
                                        <p:strVal val="visible"/>
                                      </p:to>
                                    </p:set>
                                    <p:anim calcmode="lin" valueType="num">
                                      <p:cBhvr additive="base">
                                        <p:cTn dur="500"/>
                                        <p:tgtEl>
                                          <p:spTgt spid="29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500"/>
                                        <p:tgtEl>
                                          <p:spTgt spid="29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9"/>
          <p:cNvSpPr txBox="1"/>
          <p:nvPr>
            <p:ph type="title"/>
          </p:nvPr>
        </p:nvSpPr>
        <p:spPr>
          <a:xfrm>
            <a:off x="439725" y="296250"/>
            <a:ext cx="7394700" cy="55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latin typeface="Arial"/>
                <a:ea typeface="Arial"/>
                <a:cs typeface="Arial"/>
                <a:sym typeface="Arial"/>
              </a:rPr>
              <a:t>Đánh giá kết quả</a:t>
            </a:r>
            <a:endParaRPr>
              <a:latin typeface="Arial"/>
              <a:ea typeface="Arial"/>
              <a:cs typeface="Arial"/>
              <a:sym typeface="Arial"/>
            </a:endParaRPr>
          </a:p>
        </p:txBody>
      </p:sp>
      <p:sp>
        <p:nvSpPr>
          <p:cNvPr id="302" name="Google Shape;302;p39"/>
          <p:cNvSpPr txBox="1"/>
          <p:nvPr>
            <p:ph idx="1" type="body"/>
          </p:nvPr>
        </p:nvSpPr>
        <p:spPr>
          <a:xfrm>
            <a:off x="819150" y="853950"/>
            <a:ext cx="7505700" cy="375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solidFill>
                  <a:srgbClr val="000000"/>
                </a:solidFill>
                <a:latin typeface="Arial"/>
                <a:ea typeface="Arial"/>
                <a:cs typeface="Arial"/>
                <a:sym typeface="Arial"/>
              </a:rPr>
              <a:t>Để minh họa thêm về tính hữu ích của phương pháp đo lường để ước lượng Effort, bài báo trình bày hai nghiên cứu điển hình ngoài Rice Cooker bao gồm:</a:t>
            </a:r>
            <a:endParaRPr>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Char char="-"/>
            </a:pPr>
            <a:r>
              <a:rPr b="1" lang="vi">
                <a:solidFill>
                  <a:srgbClr val="000000"/>
                </a:solidFill>
                <a:latin typeface="Arial"/>
                <a:ea typeface="Arial"/>
                <a:cs typeface="Arial"/>
                <a:sym typeface="Arial"/>
              </a:rPr>
              <a:t>WASHING MACHINE</a:t>
            </a:r>
            <a:r>
              <a:rPr lang="vi">
                <a:solidFill>
                  <a:srgbClr val="000000"/>
                </a:solidFill>
                <a:latin typeface="Arial"/>
                <a:ea typeface="Arial"/>
                <a:cs typeface="Arial"/>
                <a:sym typeface="Arial"/>
              </a:rPr>
              <a:t>[24]: Phát triển một phần mềm nhúng được mô hình hóa bằng 1 Class diagram và 8 Sequence diagrams  </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Char char="-"/>
            </a:pPr>
            <a:r>
              <a:rPr b="1" lang="vi">
                <a:solidFill>
                  <a:srgbClr val="000000"/>
                </a:solidFill>
                <a:latin typeface="Arial"/>
                <a:ea typeface="Arial"/>
                <a:cs typeface="Arial"/>
                <a:sym typeface="Arial"/>
              </a:rPr>
              <a:t>AIRLINE RESERVATION</a:t>
            </a:r>
            <a:r>
              <a:rPr lang="vi">
                <a:solidFill>
                  <a:srgbClr val="000000"/>
                </a:solidFill>
                <a:latin typeface="Arial"/>
                <a:ea typeface="Arial"/>
                <a:cs typeface="Arial"/>
                <a:sym typeface="Arial"/>
              </a:rPr>
              <a:t>[25]: Hệ thống thông tin quản lý được mô hình hóa bằng 1 Use-case diagram mô tả 10 chức năng</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solidFill>
                <a:srgbClr val="000000"/>
              </a:solidFill>
            </a:endParaRPr>
          </a:p>
        </p:txBody>
      </p:sp>
      <p:pic>
        <p:nvPicPr>
          <p:cNvPr id="303" name="Google Shape;303;p39"/>
          <p:cNvPicPr preferRelativeResize="0"/>
          <p:nvPr/>
        </p:nvPicPr>
        <p:blipFill>
          <a:blip r:embed="rId3">
            <a:alphaModFix/>
          </a:blip>
          <a:stretch>
            <a:fillRect/>
          </a:stretch>
        </p:blipFill>
        <p:spPr>
          <a:xfrm>
            <a:off x="1042988" y="2617450"/>
            <a:ext cx="7058025" cy="215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0"/>
          <p:cNvSpPr txBox="1"/>
          <p:nvPr>
            <p:ph type="title"/>
          </p:nvPr>
        </p:nvSpPr>
        <p:spPr>
          <a:xfrm>
            <a:off x="819150" y="327675"/>
            <a:ext cx="7505700" cy="68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latin typeface="Arial"/>
                <a:ea typeface="Arial"/>
                <a:cs typeface="Arial"/>
                <a:sym typeface="Arial"/>
              </a:rPr>
              <a:t>Đánh giá kết quả</a:t>
            </a:r>
            <a:endParaRPr>
              <a:latin typeface="Arial"/>
              <a:ea typeface="Arial"/>
              <a:cs typeface="Arial"/>
              <a:sym typeface="Arial"/>
            </a:endParaRPr>
          </a:p>
        </p:txBody>
      </p:sp>
      <p:sp>
        <p:nvSpPr>
          <p:cNvPr id="309" name="Google Shape;309;p40"/>
          <p:cNvSpPr txBox="1"/>
          <p:nvPr>
            <p:ph idx="1" type="body"/>
          </p:nvPr>
        </p:nvSpPr>
        <p:spPr>
          <a:xfrm>
            <a:off x="819150" y="933375"/>
            <a:ext cx="7505700" cy="3505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018"/>
              <a:buNone/>
            </a:pPr>
            <a:r>
              <a:rPr lang="vi" sz="1302">
                <a:solidFill>
                  <a:srgbClr val="000000"/>
                </a:solidFill>
                <a:latin typeface="Arial"/>
                <a:ea typeface="Arial"/>
                <a:cs typeface="Arial"/>
                <a:sym typeface="Arial"/>
              </a:rPr>
              <a:t>Dựa trên các nghiên cứu Rice Cooker, Washing Machine, Airlines Reservation. Các kết luận được rút ra:</a:t>
            </a:r>
            <a:endParaRPr sz="1302">
              <a:solidFill>
                <a:srgbClr val="000000"/>
              </a:solidFill>
              <a:latin typeface="Arial"/>
              <a:ea typeface="Arial"/>
              <a:cs typeface="Arial"/>
              <a:sym typeface="Arial"/>
            </a:endParaRPr>
          </a:p>
          <a:p>
            <a:pPr indent="-311308" lvl="0" marL="457200" rtl="0" algn="l">
              <a:lnSpc>
                <a:spcPct val="150000"/>
              </a:lnSpc>
              <a:spcBef>
                <a:spcPts val="1200"/>
              </a:spcBef>
              <a:spcAft>
                <a:spcPts val="0"/>
              </a:spcAft>
              <a:buClr>
                <a:srgbClr val="000000"/>
              </a:buClr>
              <a:buSzPts val="1303"/>
              <a:buFont typeface="Arial"/>
              <a:buAutoNum type="arabicPeriod"/>
            </a:pPr>
            <a:r>
              <a:rPr lang="vi" sz="1302">
                <a:solidFill>
                  <a:srgbClr val="000000"/>
                </a:solidFill>
                <a:latin typeface="Arial"/>
                <a:ea typeface="Arial"/>
                <a:cs typeface="Arial"/>
                <a:sym typeface="Arial"/>
              </a:rPr>
              <a:t>Cách áp dụng phương pháp COSMIC và phương pháp đề xuất</a:t>
            </a:r>
            <a:endParaRPr sz="1302">
              <a:solidFill>
                <a:srgbClr val="000000"/>
              </a:solidFill>
              <a:latin typeface="Arial"/>
              <a:ea typeface="Arial"/>
              <a:cs typeface="Arial"/>
              <a:sym typeface="Arial"/>
            </a:endParaRPr>
          </a:p>
          <a:p>
            <a:pPr indent="-311308" lvl="0" marL="457200" rtl="0" algn="l">
              <a:lnSpc>
                <a:spcPct val="150000"/>
              </a:lnSpc>
              <a:spcBef>
                <a:spcPts val="0"/>
              </a:spcBef>
              <a:spcAft>
                <a:spcPts val="0"/>
              </a:spcAft>
              <a:buClr>
                <a:srgbClr val="000000"/>
              </a:buClr>
              <a:buSzPts val="1303"/>
              <a:buFont typeface="Arial"/>
              <a:buAutoNum type="arabicPeriod"/>
            </a:pPr>
            <a:r>
              <a:rPr lang="vi" sz="1302">
                <a:solidFill>
                  <a:srgbClr val="000000"/>
                </a:solidFill>
                <a:latin typeface="Arial"/>
                <a:ea typeface="Arial"/>
                <a:cs typeface="Arial"/>
                <a:sym typeface="Arial"/>
              </a:rPr>
              <a:t>Cách đánh giá, định lượng kích thước của Sequence diagram ở những cấp độ khác nhau của độ chi tiết</a:t>
            </a:r>
            <a:endParaRPr sz="1302">
              <a:solidFill>
                <a:srgbClr val="000000"/>
              </a:solidFill>
              <a:latin typeface="Arial"/>
              <a:ea typeface="Arial"/>
              <a:cs typeface="Arial"/>
              <a:sym typeface="Arial"/>
            </a:endParaRPr>
          </a:p>
          <a:p>
            <a:pPr indent="-311308" lvl="0" marL="457200" rtl="0" algn="l">
              <a:lnSpc>
                <a:spcPct val="150000"/>
              </a:lnSpc>
              <a:spcBef>
                <a:spcPts val="0"/>
              </a:spcBef>
              <a:spcAft>
                <a:spcPts val="0"/>
              </a:spcAft>
              <a:buClr>
                <a:srgbClr val="000000"/>
              </a:buClr>
              <a:buSzPts val="1303"/>
              <a:buFont typeface="Arial"/>
              <a:buAutoNum type="arabicPeriod"/>
            </a:pPr>
            <a:r>
              <a:rPr lang="vi" sz="1302">
                <a:solidFill>
                  <a:srgbClr val="000000"/>
                </a:solidFill>
                <a:latin typeface="Arial"/>
                <a:ea typeface="Arial"/>
                <a:cs typeface="Arial"/>
                <a:sym typeface="Arial"/>
              </a:rPr>
              <a:t>Chứng minh được mức độ chi tiết có thể cải thiện độ chính xác của ước lượng Effort </a:t>
            </a:r>
            <a:endParaRPr sz="1302">
              <a:solidFill>
                <a:srgbClr val="000000"/>
              </a:solidFill>
              <a:latin typeface="Arial"/>
              <a:ea typeface="Arial"/>
              <a:cs typeface="Arial"/>
              <a:sym typeface="Arial"/>
            </a:endParaRPr>
          </a:p>
          <a:p>
            <a:pPr indent="0" lvl="0" marL="0" rtl="0" algn="l">
              <a:lnSpc>
                <a:spcPct val="150000"/>
              </a:lnSpc>
              <a:spcBef>
                <a:spcPts val="1200"/>
              </a:spcBef>
              <a:spcAft>
                <a:spcPts val="0"/>
              </a:spcAft>
              <a:buSzPts val="1018"/>
              <a:buNone/>
            </a:pPr>
            <a:r>
              <a:rPr lang="vi" sz="1302">
                <a:solidFill>
                  <a:srgbClr val="000000"/>
                </a:solidFill>
                <a:latin typeface="Arial"/>
                <a:ea typeface="Arial"/>
                <a:cs typeface="Arial"/>
                <a:sym typeface="Arial"/>
              </a:rPr>
              <a:t>Tuy nhiên, còn những hạn chế được bài báo đề cập</a:t>
            </a:r>
            <a:endParaRPr sz="1302">
              <a:solidFill>
                <a:srgbClr val="000000"/>
              </a:solidFill>
              <a:latin typeface="Arial"/>
              <a:ea typeface="Arial"/>
              <a:cs typeface="Arial"/>
              <a:sym typeface="Arial"/>
            </a:endParaRPr>
          </a:p>
          <a:p>
            <a:pPr indent="-311308" lvl="0" marL="457200" rtl="0" algn="l">
              <a:lnSpc>
                <a:spcPct val="150000"/>
              </a:lnSpc>
              <a:spcBef>
                <a:spcPts val="1200"/>
              </a:spcBef>
              <a:spcAft>
                <a:spcPts val="0"/>
              </a:spcAft>
              <a:buClr>
                <a:srgbClr val="000000"/>
              </a:buClr>
              <a:buSzPts val="1303"/>
              <a:buFont typeface="Arial"/>
              <a:buAutoNum type="arabicPeriod"/>
            </a:pPr>
            <a:r>
              <a:rPr lang="vi" sz="1302">
                <a:solidFill>
                  <a:srgbClr val="000000"/>
                </a:solidFill>
                <a:latin typeface="Arial"/>
                <a:ea typeface="Arial"/>
                <a:cs typeface="Arial"/>
                <a:sym typeface="Arial"/>
              </a:rPr>
              <a:t>Tính tổng quát của kết quát hóa của kết quả mang hạn chế: nhìn nhận một mặt </a:t>
            </a:r>
            <a:endParaRPr sz="1302">
              <a:solidFill>
                <a:srgbClr val="000000"/>
              </a:solidFill>
              <a:latin typeface="Arial"/>
              <a:ea typeface="Arial"/>
              <a:cs typeface="Arial"/>
              <a:sym typeface="Arial"/>
            </a:endParaRPr>
          </a:p>
          <a:p>
            <a:pPr indent="-311308" lvl="0" marL="457200" rtl="0" algn="l">
              <a:lnSpc>
                <a:spcPct val="150000"/>
              </a:lnSpc>
              <a:spcBef>
                <a:spcPts val="0"/>
              </a:spcBef>
              <a:spcAft>
                <a:spcPts val="0"/>
              </a:spcAft>
              <a:buClr>
                <a:srgbClr val="000000"/>
              </a:buClr>
              <a:buSzPts val="1303"/>
              <a:buFont typeface="Arial"/>
              <a:buAutoNum type="arabicPeriod"/>
            </a:pPr>
            <a:r>
              <a:rPr lang="vi" sz="1302">
                <a:solidFill>
                  <a:srgbClr val="000000"/>
                </a:solidFill>
                <a:latin typeface="Arial"/>
                <a:ea typeface="Arial"/>
                <a:cs typeface="Arial"/>
                <a:sym typeface="Arial"/>
              </a:rPr>
              <a:t>Số lượng các nghiên cứu liên quan vẫn còn ít</a:t>
            </a:r>
            <a:endParaRPr sz="1302">
              <a:solidFill>
                <a:srgbClr val="000000"/>
              </a:solidFill>
              <a:latin typeface="Arial"/>
              <a:ea typeface="Arial"/>
              <a:cs typeface="Arial"/>
              <a:sym typeface="Arial"/>
            </a:endParaRPr>
          </a:p>
          <a:p>
            <a:pPr indent="-311308" lvl="0" marL="457200" rtl="0" algn="l">
              <a:lnSpc>
                <a:spcPct val="150000"/>
              </a:lnSpc>
              <a:spcBef>
                <a:spcPts val="0"/>
              </a:spcBef>
              <a:spcAft>
                <a:spcPts val="0"/>
              </a:spcAft>
              <a:buClr>
                <a:srgbClr val="000000"/>
              </a:buClr>
              <a:buSzPts val="1303"/>
              <a:buFont typeface="Arial"/>
              <a:buAutoNum type="arabicPeriod"/>
            </a:pPr>
            <a:r>
              <a:rPr lang="vi" sz="1302">
                <a:solidFill>
                  <a:srgbClr val="000000"/>
                </a:solidFill>
                <a:latin typeface="Arial"/>
                <a:ea typeface="Arial"/>
                <a:cs typeface="Arial"/>
                <a:sym typeface="Arial"/>
              </a:rPr>
              <a:t>Nghiên cứu chưa nhìn nhận hết các khía cạnh Combined fragments của Sequence diagram</a:t>
            </a:r>
            <a:endParaRPr sz="1302">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0" st="0"/>
                                            </p:txEl>
                                          </p:spTgt>
                                        </p:tgtEl>
                                        <p:attrNameLst>
                                          <p:attrName>style.visibility</p:attrName>
                                        </p:attrNameLst>
                                      </p:cBhvr>
                                      <p:to>
                                        <p:strVal val="visible"/>
                                      </p:to>
                                    </p:set>
                                    <p:anim calcmode="lin" valueType="num">
                                      <p:cBhvr additive="base">
                                        <p:cTn dur="800"/>
                                        <p:tgtEl>
                                          <p:spTgt spid="30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1" st="1"/>
                                            </p:txEl>
                                          </p:spTgt>
                                        </p:tgtEl>
                                        <p:attrNameLst>
                                          <p:attrName>style.visibility</p:attrName>
                                        </p:attrNameLst>
                                      </p:cBhvr>
                                      <p:to>
                                        <p:strVal val="visible"/>
                                      </p:to>
                                    </p:set>
                                    <p:anim calcmode="lin" valueType="num">
                                      <p:cBhvr additive="base">
                                        <p:cTn dur="800"/>
                                        <p:tgtEl>
                                          <p:spTgt spid="30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2" st="2"/>
                                            </p:txEl>
                                          </p:spTgt>
                                        </p:tgtEl>
                                        <p:attrNameLst>
                                          <p:attrName>style.visibility</p:attrName>
                                        </p:attrNameLst>
                                      </p:cBhvr>
                                      <p:to>
                                        <p:strVal val="visible"/>
                                      </p:to>
                                    </p:set>
                                    <p:anim calcmode="lin" valueType="num">
                                      <p:cBhvr additive="base">
                                        <p:cTn dur="800"/>
                                        <p:tgtEl>
                                          <p:spTgt spid="30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3" st="3"/>
                                            </p:txEl>
                                          </p:spTgt>
                                        </p:tgtEl>
                                        <p:attrNameLst>
                                          <p:attrName>style.visibility</p:attrName>
                                        </p:attrNameLst>
                                      </p:cBhvr>
                                      <p:to>
                                        <p:strVal val="visible"/>
                                      </p:to>
                                    </p:set>
                                    <p:anim calcmode="lin" valueType="num">
                                      <p:cBhvr additive="base">
                                        <p:cTn dur="800"/>
                                        <p:tgtEl>
                                          <p:spTgt spid="30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4" st="4"/>
                                            </p:txEl>
                                          </p:spTgt>
                                        </p:tgtEl>
                                        <p:attrNameLst>
                                          <p:attrName>style.visibility</p:attrName>
                                        </p:attrNameLst>
                                      </p:cBhvr>
                                      <p:to>
                                        <p:strVal val="visible"/>
                                      </p:to>
                                    </p:set>
                                    <p:anim calcmode="lin" valueType="num">
                                      <p:cBhvr additive="base">
                                        <p:cTn dur="800"/>
                                        <p:tgtEl>
                                          <p:spTgt spid="30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5" st="5"/>
                                            </p:txEl>
                                          </p:spTgt>
                                        </p:tgtEl>
                                        <p:attrNameLst>
                                          <p:attrName>style.visibility</p:attrName>
                                        </p:attrNameLst>
                                      </p:cBhvr>
                                      <p:to>
                                        <p:strVal val="visible"/>
                                      </p:to>
                                    </p:set>
                                    <p:anim calcmode="lin" valueType="num">
                                      <p:cBhvr additive="base">
                                        <p:cTn dur="800"/>
                                        <p:tgtEl>
                                          <p:spTgt spid="30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6" st="6"/>
                                            </p:txEl>
                                          </p:spTgt>
                                        </p:tgtEl>
                                        <p:attrNameLst>
                                          <p:attrName>style.visibility</p:attrName>
                                        </p:attrNameLst>
                                      </p:cBhvr>
                                      <p:to>
                                        <p:strVal val="visible"/>
                                      </p:to>
                                    </p:set>
                                    <p:anim calcmode="lin" valueType="num">
                                      <p:cBhvr additive="base">
                                        <p:cTn dur="800"/>
                                        <p:tgtEl>
                                          <p:spTgt spid="30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7" st="7"/>
                                            </p:txEl>
                                          </p:spTgt>
                                        </p:tgtEl>
                                        <p:attrNameLst>
                                          <p:attrName>style.visibility</p:attrName>
                                        </p:attrNameLst>
                                      </p:cBhvr>
                                      <p:to>
                                        <p:strVal val="visible"/>
                                      </p:to>
                                    </p:set>
                                    <p:anim calcmode="lin" valueType="num">
                                      <p:cBhvr additive="base">
                                        <p:cTn dur="800"/>
                                        <p:tgtEl>
                                          <p:spTgt spid="30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800"/>
                                        <p:tgtEl>
                                          <p:spTgt spid="309"/>
                                        </p:tgtEl>
                                        <p:attrNameLst>
                                          <p:attrName>ppt_y</p:attrName>
                                        </p:attrNameLst>
                                      </p:cBhvr>
                                      <p:tavLst>
                                        <p:tav fmla="" tm="0">
                                          <p:val>
                                            <p:strVal val="#ppt_y"/>
                                          </p:val>
                                        </p:tav>
                                        <p:tav fmla="" tm="100000">
                                          <p:val>
                                            <p:strVal val="#ppt_y+1"/>
                                          </p:val>
                                        </p:tav>
                                      </p:tavLst>
                                    </p:anim>
                                    <p:set>
                                      <p:cBhvr>
                                        <p:cTn dur="1" fill="hold">
                                          <p:stCondLst>
                                            <p:cond delay="800"/>
                                          </p:stCondLst>
                                        </p:cTn>
                                        <p:tgtEl>
                                          <p:spTgt spid="30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1"/>
          <p:cNvSpPr txBox="1"/>
          <p:nvPr>
            <p:ph type="title"/>
          </p:nvPr>
        </p:nvSpPr>
        <p:spPr>
          <a:xfrm>
            <a:off x="819150" y="454100"/>
            <a:ext cx="7505700" cy="76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latin typeface="Arial"/>
                <a:ea typeface="Arial"/>
                <a:cs typeface="Arial"/>
                <a:sym typeface="Arial"/>
              </a:rPr>
              <a:t>Discussion and Future work</a:t>
            </a:r>
            <a:endParaRPr>
              <a:latin typeface="Arial"/>
              <a:ea typeface="Arial"/>
              <a:cs typeface="Arial"/>
              <a:sym typeface="Arial"/>
            </a:endParaRPr>
          </a:p>
        </p:txBody>
      </p:sp>
      <p:sp>
        <p:nvSpPr>
          <p:cNvPr id="315" name="Google Shape;315;p41"/>
          <p:cNvSpPr txBox="1"/>
          <p:nvPr>
            <p:ph idx="1" type="body"/>
          </p:nvPr>
        </p:nvSpPr>
        <p:spPr>
          <a:xfrm>
            <a:off x="819150" y="1114625"/>
            <a:ext cx="7505700" cy="3324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vi">
                <a:solidFill>
                  <a:srgbClr val="000000"/>
                </a:solidFill>
                <a:latin typeface="Arial"/>
                <a:ea typeface="Arial"/>
                <a:cs typeface="Arial"/>
                <a:sym typeface="Arial"/>
              </a:rPr>
              <a:t>Tóm lại, bài báo thiết kế một biện pháp cải tiến về kích thước của Sequence diagrams với các thao tác dữ liệu  điều khiển bới Sequence diagrams  dựa trên hai cấp độ chi tiết khác nhau:</a:t>
            </a:r>
            <a:endParaRPr>
              <a:solidFill>
                <a:srgbClr val="000000"/>
              </a:solidFill>
              <a:latin typeface="Arial"/>
              <a:ea typeface="Arial"/>
              <a:cs typeface="Arial"/>
              <a:sym typeface="Arial"/>
            </a:endParaRPr>
          </a:p>
          <a:p>
            <a:pPr indent="-311150" lvl="0" marL="457200" rtl="0" algn="l">
              <a:lnSpc>
                <a:spcPct val="150000"/>
              </a:lnSpc>
              <a:spcBef>
                <a:spcPts val="1200"/>
              </a:spcBef>
              <a:spcAft>
                <a:spcPts val="0"/>
              </a:spcAft>
              <a:buClr>
                <a:srgbClr val="000000"/>
              </a:buClr>
              <a:buSzPts val="1300"/>
              <a:buFont typeface="Arial"/>
              <a:buChar char="-"/>
            </a:pPr>
            <a:r>
              <a:rPr lang="vi">
                <a:solidFill>
                  <a:srgbClr val="000000"/>
                </a:solidFill>
                <a:latin typeface="Arial"/>
                <a:ea typeface="Arial"/>
                <a:cs typeface="Arial"/>
                <a:sym typeface="Arial"/>
              </a:rPr>
              <a:t>Functional size COSMIC - ISO 19761 </a:t>
            </a:r>
            <a:endParaRPr>
              <a:solidFill>
                <a:srgbClr val="000000"/>
              </a:solidFill>
              <a:latin typeface="Arial"/>
              <a:ea typeface="Arial"/>
              <a:cs typeface="Arial"/>
              <a:sym typeface="Arial"/>
            </a:endParaRPr>
          </a:p>
          <a:p>
            <a:pPr indent="-311150" lvl="0" marL="457200" rtl="0" algn="l">
              <a:lnSpc>
                <a:spcPct val="150000"/>
              </a:lnSpc>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Functional control structure of Sequence diagram</a:t>
            </a:r>
            <a:endParaRPr>
              <a:solidFill>
                <a:srgbClr val="000000"/>
              </a:solidFill>
              <a:latin typeface="Arial"/>
              <a:ea typeface="Arial"/>
              <a:cs typeface="Arial"/>
              <a:sym typeface="Arial"/>
            </a:endParaRPr>
          </a:p>
          <a:p>
            <a:pPr indent="0" lvl="0" marL="0" rtl="0" algn="l">
              <a:spcBef>
                <a:spcPts val="1200"/>
              </a:spcBef>
              <a:spcAft>
                <a:spcPts val="0"/>
              </a:spcAft>
              <a:buNone/>
            </a:pPr>
            <a:r>
              <a:rPr lang="vi">
                <a:solidFill>
                  <a:srgbClr val="000000"/>
                </a:solidFill>
                <a:latin typeface="Arial"/>
                <a:ea typeface="Arial"/>
                <a:cs typeface="Arial"/>
                <a:sym typeface="Arial"/>
              </a:rPr>
              <a:t>Với các nghiên cứu đã trình bày ở Phương pháp đánh giá kết quả, mục tiêu nghiên cứu sâu hơn :</a:t>
            </a:r>
            <a:endParaRPr>
              <a:solidFill>
                <a:srgbClr val="000000"/>
              </a:solidFill>
              <a:latin typeface="Arial"/>
              <a:ea typeface="Arial"/>
              <a:cs typeface="Arial"/>
              <a:sym typeface="Arial"/>
            </a:endParaRPr>
          </a:p>
          <a:p>
            <a:pPr indent="-311150" lvl="0" marL="457200" rtl="0" algn="l">
              <a:lnSpc>
                <a:spcPct val="150000"/>
              </a:lnSpc>
              <a:spcBef>
                <a:spcPts val="1200"/>
              </a:spcBef>
              <a:spcAft>
                <a:spcPts val="0"/>
              </a:spcAft>
              <a:buClr>
                <a:srgbClr val="000000"/>
              </a:buClr>
              <a:buSzPts val="1300"/>
              <a:buFont typeface="Arial"/>
              <a:buChar char="-"/>
            </a:pPr>
            <a:r>
              <a:rPr lang="vi">
                <a:solidFill>
                  <a:srgbClr val="000000"/>
                </a:solidFill>
                <a:latin typeface="Arial"/>
                <a:ea typeface="Arial"/>
                <a:cs typeface="Arial"/>
                <a:sym typeface="Arial"/>
              </a:rPr>
              <a:t>Thu thập dữ liệu Effort từ các dự án đã hoàn thành </a:t>
            </a:r>
            <a:endParaRPr>
              <a:solidFill>
                <a:srgbClr val="000000"/>
              </a:solidFill>
              <a:latin typeface="Arial"/>
              <a:ea typeface="Arial"/>
              <a:cs typeface="Arial"/>
              <a:sym typeface="Arial"/>
            </a:endParaRPr>
          </a:p>
          <a:p>
            <a:pPr indent="-311150" lvl="0" marL="457200" rtl="0" algn="l">
              <a:lnSpc>
                <a:spcPct val="150000"/>
              </a:lnSpc>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Đo lường Functional size và Structural size của yêu cầu phần mềm  cho dự án</a:t>
            </a:r>
            <a:endParaRPr>
              <a:solidFill>
                <a:srgbClr val="000000"/>
              </a:solidFill>
              <a:latin typeface="Arial"/>
              <a:ea typeface="Arial"/>
              <a:cs typeface="Arial"/>
              <a:sym typeface="Arial"/>
            </a:endParaRPr>
          </a:p>
          <a:p>
            <a:pPr indent="-311150" lvl="0" marL="457200" rtl="0" algn="l">
              <a:lnSpc>
                <a:spcPct val="150000"/>
              </a:lnSpc>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Tự động hóa việc đo lường cả Functional và Structural sizes của Sequence diagrams</a:t>
            </a:r>
            <a:endParaRPr>
              <a:solidFill>
                <a:srgbClr val="000000"/>
              </a:solidFill>
              <a:latin typeface="Arial"/>
              <a:ea typeface="Arial"/>
              <a:cs typeface="Arial"/>
              <a:sym typeface="Arial"/>
            </a:endParaRPr>
          </a:p>
          <a:p>
            <a:pPr indent="-311150" lvl="0" marL="457200" rtl="0" algn="l">
              <a:lnSpc>
                <a:spcPct val="150000"/>
              </a:lnSpc>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Khám phá các khái niệm đo lường liên quan trong các loại UML diagrams khác</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2"/>
          <p:cNvSpPr txBox="1"/>
          <p:nvPr>
            <p:ph type="title"/>
          </p:nvPr>
        </p:nvSpPr>
        <p:spPr>
          <a:xfrm>
            <a:off x="819150" y="845600"/>
            <a:ext cx="7505700" cy="340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i="1" lang="vi">
                <a:latin typeface="Arial"/>
                <a:ea typeface="Arial"/>
                <a:cs typeface="Arial"/>
                <a:sym typeface="Arial"/>
              </a:rPr>
              <a:t>Thanks for Listening</a:t>
            </a:r>
            <a:endParaRPr i="1">
              <a:latin typeface="Arial"/>
              <a:ea typeface="Arial"/>
              <a:cs typeface="Arial"/>
              <a:sym typeface="Arial"/>
            </a:endParaRPr>
          </a:p>
          <a:p>
            <a:pPr indent="0" lvl="0" marL="0" rtl="0" algn="ctr">
              <a:spcBef>
                <a:spcPts val="0"/>
              </a:spcBef>
              <a:spcAft>
                <a:spcPts val="0"/>
              </a:spcAft>
              <a:buNone/>
            </a:pPr>
            <a:r>
              <a:rPr i="1" lang="vi">
                <a:latin typeface="Arial"/>
                <a:ea typeface="Arial"/>
                <a:cs typeface="Arial"/>
                <a:sym typeface="Arial"/>
              </a:rPr>
              <a:t>Q&amp;A</a:t>
            </a:r>
            <a:endParaRPr i="1">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